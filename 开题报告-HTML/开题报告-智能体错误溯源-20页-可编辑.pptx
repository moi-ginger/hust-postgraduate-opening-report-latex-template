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20f633e80ac42f4" /><Relationship Type="http://schemas.openxmlformats.org/officeDocument/2006/relationships/extended-properties" Target="/docProps/app.xml" Id="R13e506b1cf6a4b4b" /><Relationship Type="http://schemas.openxmlformats.org/officeDocument/2006/relationships/officeDocument" Target="/ppt/presentation.xml" Id="Rd0b155681637431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607d7be04684560"/>
  </p:sldMasterIdLst>
  <p:notesMasterIdLst>
    <p:notesMasterId xmlns:r="http://schemas.openxmlformats.org/officeDocument/2006/relationships" r:id="Rb08436132494481e"/>
  </p:notesMasterIdLst>
  <p:sldIdLst>
    <p:sldId xmlns:r="http://schemas.openxmlformats.org/officeDocument/2006/relationships" id="256" r:id="R65bcd41464b54ae0"/>
    <p:sldId xmlns:r="http://schemas.openxmlformats.org/officeDocument/2006/relationships" id="257" r:id="R900f4302363544c2"/>
    <p:sldId xmlns:r="http://schemas.openxmlformats.org/officeDocument/2006/relationships" id="258" r:id="Rb4257b12f8944731"/>
    <p:sldId xmlns:r="http://schemas.openxmlformats.org/officeDocument/2006/relationships" id="259" r:id="Ra04e7c05c6c540a1"/>
    <p:sldId xmlns:r="http://schemas.openxmlformats.org/officeDocument/2006/relationships" id="260" r:id="Rf233949727ba4629"/>
    <p:sldId xmlns:r="http://schemas.openxmlformats.org/officeDocument/2006/relationships" id="261" r:id="R04bfdb729bbb4785"/>
    <p:sldId xmlns:r="http://schemas.openxmlformats.org/officeDocument/2006/relationships" id="262" r:id="R4448688e51464b50"/>
    <p:sldId xmlns:r="http://schemas.openxmlformats.org/officeDocument/2006/relationships" id="263" r:id="Re5e1306af6e6422f"/>
    <p:sldId xmlns:r="http://schemas.openxmlformats.org/officeDocument/2006/relationships" id="264" r:id="Rc515125364824de4"/>
    <p:sldId xmlns:r="http://schemas.openxmlformats.org/officeDocument/2006/relationships" id="265" r:id="R9f3865b40e1e4787"/>
    <p:sldId xmlns:r="http://schemas.openxmlformats.org/officeDocument/2006/relationships" id="266" r:id="R06fdfb7cca5a4821"/>
    <p:sldId xmlns:r="http://schemas.openxmlformats.org/officeDocument/2006/relationships" id="267" r:id="R7c2bcc8cba0046fb"/>
    <p:sldId xmlns:r="http://schemas.openxmlformats.org/officeDocument/2006/relationships" id="268" r:id="Rde4fd5ab3ed5435d"/>
    <p:sldId xmlns:r="http://schemas.openxmlformats.org/officeDocument/2006/relationships" id="269" r:id="R55f68247269749b9"/>
    <p:sldId xmlns:r="http://schemas.openxmlformats.org/officeDocument/2006/relationships" id="270" r:id="R2fc12b6d6927425b"/>
    <p:sldId xmlns:r="http://schemas.openxmlformats.org/officeDocument/2006/relationships" id="271" r:id="Rc8538b15a46d4517"/>
    <p:sldId xmlns:r="http://schemas.openxmlformats.org/officeDocument/2006/relationships" id="272" r:id="R892af864a0834343"/>
    <p:sldId xmlns:r="http://schemas.openxmlformats.org/officeDocument/2006/relationships" id="273" r:id="Rcdff288e22634c03"/>
    <p:sldId xmlns:r="http://schemas.openxmlformats.org/officeDocument/2006/relationships" id="274" r:id="R6fe01557f6724a77"/>
    <p:sldId xmlns:r="http://schemas.openxmlformats.org/officeDocument/2006/relationships" id="275" r:id="Rce58180fb579422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df1ba2bfad948e2" /><Relationship Type="http://schemas.openxmlformats.org/officeDocument/2006/relationships/slideMaster" Target="/ppt/slideMasters/slideMaster1.xml" Id="R7607d7be04684560" /><Relationship Type="http://schemas.openxmlformats.org/officeDocument/2006/relationships/notesMaster" Target="/ppt/notesMasters/notesMaster1.xml" Id="Rb08436132494481e" /><Relationship Type="http://schemas.openxmlformats.org/officeDocument/2006/relationships/presProps" Target="/ppt/presProps.xml" Id="R7aac4905691a447d" /><Relationship Type="http://schemas.openxmlformats.org/officeDocument/2006/relationships/tableStyles" Target="/ppt/tableStyles.xml" Id="R2880998b154343e3" /><Relationship Type="http://schemas.openxmlformats.org/officeDocument/2006/relationships/slide" Target="/ppt/slides/slide1.xml" Id="R65bcd41464b54ae0" /><Relationship Type="http://schemas.openxmlformats.org/officeDocument/2006/relationships/slide" Target="/ppt/slides/slide2.xml" Id="R900f4302363544c2" /><Relationship Type="http://schemas.openxmlformats.org/officeDocument/2006/relationships/slide" Target="/ppt/slides/slide3.xml" Id="Rb4257b12f8944731" /><Relationship Type="http://schemas.openxmlformats.org/officeDocument/2006/relationships/slide" Target="/ppt/slides/slide4.xml" Id="Ra04e7c05c6c540a1" /><Relationship Type="http://schemas.openxmlformats.org/officeDocument/2006/relationships/slide" Target="/ppt/slides/slide5.xml" Id="Rf233949727ba4629" /><Relationship Type="http://schemas.openxmlformats.org/officeDocument/2006/relationships/slide" Target="/ppt/slides/slide6.xml" Id="R04bfdb729bbb4785" /><Relationship Type="http://schemas.openxmlformats.org/officeDocument/2006/relationships/slide" Target="/ppt/slides/slide7.xml" Id="R4448688e51464b50" /><Relationship Type="http://schemas.openxmlformats.org/officeDocument/2006/relationships/slide" Target="/ppt/slides/slide8.xml" Id="Re5e1306af6e6422f" /><Relationship Type="http://schemas.openxmlformats.org/officeDocument/2006/relationships/slide" Target="/ppt/slides/slide9.xml" Id="Rc515125364824de4" /><Relationship Type="http://schemas.openxmlformats.org/officeDocument/2006/relationships/slide" Target="/ppt/slides/slide10.xml" Id="R9f3865b40e1e4787" /><Relationship Type="http://schemas.openxmlformats.org/officeDocument/2006/relationships/slide" Target="/ppt/slides/slide11.xml" Id="R06fdfb7cca5a4821" /><Relationship Type="http://schemas.openxmlformats.org/officeDocument/2006/relationships/slide" Target="/ppt/slides/slide12.xml" Id="R7c2bcc8cba0046fb" /><Relationship Type="http://schemas.openxmlformats.org/officeDocument/2006/relationships/slide" Target="/ppt/slides/slide13.xml" Id="Rde4fd5ab3ed5435d" /><Relationship Type="http://schemas.openxmlformats.org/officeDocument/2006/relationships/slide" Target="/ppt/slides/slide14.xml" Id="R55f68247269749b9" /><Relationship Type="http://schemas.openxmlformats.org/officeDocument/2006/relationships/slide" Target="/ppt/slides/slide15.xml" Id="R2fc12b6d6927425b" /><Relationship Type="http://schemas.openxmlformats.org/officeDocument/2006/relationships/slide" Target="/ppt/slides/slide16.xml" Id="Rc8538b15a46d4517" /><Relationship Type="http://schemas.openxmlformats.org/officeDocument/2006/relationships/slide" Target="/ppt/slides/slide17.xml" Id="R892af864a0834343" /><Relationship Type="http://schemas.openxmlformats.org/officeDocument/2006/relationships/slide" Target="/ppt/slides/slide18.xml" Id="Rcdff288e22634c03" /><Relationship Type="http://schemas.openxmlformats.org/officeDocument/2006/relationships/slide" Target="/ppt/slides/slide19.xml" Id="R6fe01557f6724a77" /><Relationship Type="http://schemas.openxmlformats.org/officeDocument/2006/relationships/slide" Target="/ppt/slides/slide20.xml" Id="Rce58180fb579422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d14b55e1cf841a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d68c4065bcc4f5f" /><Relationship Type="http://schemas.openxmlformats.org/officeDocument/2006/relationships/notesMaster" Target="/ppt/notesMasters/notesMaster1.xml" Id="R0c72c2c798c04ab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f1f00c7264b42b8" /><Relationship Type="http://schemas.openxmlformats.org/officeDocument/2006/relationships/notesMaster" Target="/ppt/notesMasters/notesMaster1.xml" Id="Red4bc734a29d446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0fe959df3a9465f" /><Relationship Type="http://schemas.openxmlformats.org/officeDocument/2006/relationships/notesMaster" Target="/ppt/notesMasters/notesMaster1.xml" Id="Rf8415d98be864ef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d7dae4245f84461" /><Relationship Type="http://schemas.openxmlformats.org/officeDocument/2006/relationships/notesMaster" Target="/ppt/notesMasters/notesMaster1.xml" Id="Rcf28df2e0a21433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795eb93f6f04b38" /><Relationship Type="http://schemas.openxmlformats.org/officeDocument/2006/relationships/notesMaster" Target="/ppt/notesMasters/notesMaster1.xml" Id="R4a8805020cf1473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a4910272bbe429e" /><Relationship Type="http://schemas.openxmlformats.org/officeDocument/2006/relationships/notesMaster" Target="/ppt/notesMasters/notesMaster1.xml" Id="R827387debf404b5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bac8914ac2244c3" /><Relationship Type="http://schemas.openxmlformats.org/officeDocument/2006/relationships/notesMaster" Target="/ppt/notesMasters/notesMaster1.xml" Id="Rb0a94c1edb3e46f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74f03417d434303" /><Relationship Type="http://schemas.openxmlformats.org/officeDocument/2006/relationships/notesMaster" Target="/ppt/notesMasters/notesMaster1.xml" Id="Rb118ccc8538049a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a33831ab35043dc" /><Relationship Type="http://schemas.openxmlformats.org/officeDocument/2006/relationships/notesMaster" Target="/ppt/notesMasters/notesMaster1.xml" Id="R526034c4835e4a0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2397ed9197445db" /><Relationship Type="http://schemas.openxmlformats.org/officeDocument/2006/relationships/notesMaster" Target="/ppt/notesMasters/notesMaster1.xml" Id="R1f3a1e5a59c64f2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ca6ffb6d34049b8" /><Relationship Type="http://schemas.openxmlformats.org/officeDocument/2006/relationships/notesMaster" Target="/ppt/notesMasters/notesMaster1.xml" Id="R786c1bc274e9424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0b9cb45b79e433f" /><Relationship Type="http://schemas.openxmlformats.org/officeDocument/2006/relationships/notesMaster" Target="/ppt/notesMasters/notesMaster1.xml" Id="R07af2d6be6634de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661a5760a724397" /><Relationship Type="http://schemas.openxmlformats.org/officeDocument/2006/relationships/notesMaster" Target="/ppt/notesMasters/notesMaster1.xml" Id="Rc219b2f30c4243f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6c786919e844d45" /><Relationship Type="http://schemas.openxmlformats.org/officeDocument/2006/relationships/notesMaster" Target="/ppt/notesMasters/notesMaster1.xml" Id="R36dff40ebb5d4e3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5fccc20119c4fd3" /><Relationship Type="http://schemas.openxmlformats.org/officeDocument/2006/relationships/notesMaster" Target="/ppt/notesMasters/notesMaster1.xml" Id="Rb7180f6d828843a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b93efb2fd7b47fa" /><Relationship Type="http://schemas.openxmlformats.org/officeDocument/2006/relationships/notesMaster" Target="/ppt/notesMasters/notesMaster1.xml" Id="R145d6e0afcec469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897f5230109413f" /><Relationship Type="http://schemas.openxmlformats.org/officeDocument/2006/relationships/notesMaster" Target="/ppt/notesMasters/notesMaster1.xml" Id="R734d28fd08d7430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10e273427b44021" /><Relationship Type="http://schemas.openxmlformats.org/officeDocument/2006/relationships/notesMaster" Target="/ppt/notesMasters/notesMaster1.xml" Id="R8665823d72ef43a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5628371d1434ddd" /><Relationship Type="http://schemas.openxmlformats.org/officeDocument/2006/relationships/notesMaster" Target="/ppt/notesMasters/notesMaster1.xml" Id="R14806446184841d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6048ea94f064287" /><Relationship Type="http://schemas.openxmlformats.org/officeDocument/2006/relationships/notesMaster" Target="/ppt/notesMasters/notesMaster1.xml" Id="R9030be820c2749f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汇报内容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HUTTER R, PRADEL M. AgentStepper: Interactive Debugging of Software Development Agents[EB/OL]. arXiv:2602.06593,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[2] YAO S, et al. ReAct: Synergizing Reasoning and Acting in Language Models[C]//ICLR. 2023. [3] CEMRI M, et al. Why Do Multi-Agent LLM Systems Fail?[C]//NeurIPS. 2025.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[4] HÖÖK K, LÖWGREN J. Strong Concepts: Intermediate-Level Knowledge in Interaction Design Research[J]. ACM TOCHI, 2012, 19(3): 23:1–23:18.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[2] YAO S, et al. ReAct: Synergizing Reasoning and Acting in Language Models[C]//ICLR. 2023.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[5] FONSECA R, et al. X-Trace: A Pervasive Network Tracing Framework[C]//NSDI. 2007: 271–284. [6] ZHENG Y, et al. AgentSight: System-Level Observability for AI Agents Using eBPF[EB/OL]. arXiv:2508.02736, 2025. [7] CHEN M, et al. From Failed Trajectories to Reliable LLM Agents: Diagnosing and Repairing Harness Flaws[EB/OL]. arXiv:2606.06324,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[8] EPPERSON W, et al. Interactive Debugging and Steering of Multi-Agent AI Systems[C]//CHI. 2025.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[9] KO A J, MYERS B A. Finding Causes of Program Output with the Java Whyline[C]//CHI. 2009: 1569–1578. [10] LAWRANCE J, et al. How Programmers Debug, Revisited: An Information Foraging Theory Perspective[J]. IEEE TSE, 2013, 39(2): 197–215.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[11] LU J, et al. AgentLens: Visual Analysis for Agent Behaviors in LLM-Based Autonomous Systems[J]. IEEE TVCG, 2025, 31(8): 4182–4197. [12] KHANNA R, et al. Finding AI’s Faults with AAR/AI: An Empirical Study[J]. ACM TiiS, 2022, 12(1): 1–33. [13] ARAWJO I, et al. ChainForge: A Visual Toolkit for Prompt Engineering and LLM Hypothesis Testing[C]//CHI. 2024.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[14] GAO T, et al. Graph of Trace: Visualizing Execution Traces of Scientific Agents[C]//ACL System Demonstrations. 2026: 297–306. [1] HUTTER R, PRADEL M. AgentStepper: Interactive Debugging of Software Development Agents[EB/OL]. arXiv:2602.06593,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HUTTER R, PRADEL M. AgentStepper: Interactive Debugging of Software Development Agents[EB/OL]. arXiv:2602.06593,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[15] WU Z, et al. AgentGraph: Trace-to-Graph Platform for Interactive Analysis and Robustness Testing in Agentic AI Systems[C]//AAAI. 2026: 41721–41723.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3.1 研究问题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3.2 诊断任务：案例、证据与评分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[10] LAWRANCE J, et al. How Programmers Debug, Revisited: An Information Foraging Theory Perspective[J]. IEEE TSE, 2013, 39(2): 197–215. [16] PIROLLI P, CARD S K. The Sensemaking Process and Leverage Points for Analyst Technology as Identified Through Cognitive Task Analysis[C]//International Conference on Intelligence Analysis. 2005. [17] KLEIN G, MOON B, HOFFMAN R R. Making Sense of Sensemaking 2: A Macrocognitive Model[J]. IEEE Intelligent Systems, 2006, 21(5): 88–92.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[18] GALE N K, et al. Using the Framework Method for the Analysis of Qualitative Data in Multi-Disciplinary Health Research[J]. BMC Medical Research Methodology, 2013, 13: 117. [19] MALTERUD K, et al. Sample Size in Qualitative Interview Studies: Guided by Information Power[J]. Qualitative Health Research, 2016, 26(13): 1753–1760.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 研究框架：从困难识别到效果验证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 研究计划：2026.09—2028.05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感谢聆听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31fbb2aff1452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0c311439d4241b8" /><Relationship Type="http://schemas.openxmlformats.org/officeDocument/2006/relationships/slideLayout" Target="/ppt/slideLayouts/slideLayout1.xml" Id="R2bb251afd080429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bb251afd080429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3ee7bca54d4607" /><Relationship Type="http://schemas.openxmlformats.org/officeDocument/2006/relationships/image" Target="/ppt/media/image.png" Id="Rdb473e1ba8694520" /><Relationship Type="http://schemas.openxmlformats.org/officeDocument/2006/relationships/notesSlide" Target="/ppt/notesSlides/notesSlide1.xml" Id="Rc0100eaab3a44e4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46ed77f1cf4b18" /><Relationship Type="http://schemas.openxmlformats.org/officeDocument/2006/relationships/notesSlide" Target="/ppt/notesSlides/notesSlide2.xml" Id="R3d8472eee248423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135119ae314fe3" /><Relationship Type="http://schemas.openxmlformats.org/officeDocument/2006/relationships/image" Target="/ppt/media/image2.png" Id="R190ae9e5531c4ca3" /><Relationship Type="http://schemas.openxmlformats.org/officeDocument/2006/relationships/notesSlide" Target="/ppt/notesSlides/notesSlide3.xml" Id="R20d6ef606e2747b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43da687d7b4b0a" /><Relationship Type="http://schemas.openxmlformats.org/officeDocument/2006/relationships/image" Target="/ppt/media/image3.png" Id="Rac2d33ad0ef34931" /><Relationship Type="http://schemas.openxmlformats.org/officeDocument/2006/relationships/image" Target="/ppt/media/image4.png" Id="R022a41b0f3ad4e48" /><Relationship Type="http://schemas.openxmlformats.org/officeDocument/2006/relationships/image" Target="/ppt/media/image5.png" Id="Rdff7661e8fc2443c" /><Relationship Type="http://schemas.openxmlformats.org/officeDocument/2006/relationships/notesSlide" Target="/ppt/notesSlides/notesSlide4.xml" Id="R798d577fc626403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a624355f5c419b" /><Relationship Type="http://schemas.openxmlformats.org/officeDocument/2006/relationships/notesSlide" Target="/ppt/notesSlides/notesSlide5.xml" Id="R53ebb6e4a52e41a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a604ac43c6452e" /><Relationship Type="http://schemas.openxmlformats.org/officeDocument/2006/relationships/image" Target="/ppt/media/image6.png" Id="Rd615da6157eb4352" /><Relationship Type="http://schemas.openxmlformats.org/officeDocument/2006/relationships/notesSlide" Target="/ppt/notesSlides/notesSlide6.xml" Id="R5e9c1fa07d8b450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1367ea967f4251" /><Relationship Type="http://schemas.openxmlformats.org/officeDocument/2006/relationships/image" Target="/ppt/media/image7.png" Id="R81b49e5e8081445a" /><Relationship Type="http://schemas.openxmlformats.org/officeDocument/2006/relationships/notesSlide" Target="/ppt/notesSlides/notesSlide7.xml" Id="Rdc04b66a6f9c48c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2e1078e9e340ef" /><Relationship Type="http://schemas.openxmlformats.org/officeDocument/2006/relationships/image" Target="/ppt/media/image8.png" Id="R2d8aa0029ac94da6" /><Relationship Type="http://schemas.openxmlformats.org/officeDocument/2006/relationships/notesSlide" Target="/ppt/notesSlides/notesSlide8.xml" Id="R23b9bb8324d44e9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ff054da90849ac" /><Relationship Type="http://schemas.openxmlformats.org/officeDocument/2006/relationships/image" Target="/ppt/media/image9.png" Id="R63e914fdd97f4609" /><Relationship Type="http://schemas.openxmlformats.org/officeDocument/2006/relationships/image" Target="/ppt/media/image10.png" Id="Ra76150fcb62e4fba" /><Relationship Type="http://schemas.openxmlformats.org/officeDocument/2006/relationships/notesSlide" Target="/ppt/notesSlides/notesSlide9.xml" Id="R59ddc5c8601c452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d01660b00a406a" /><Relationship Type="http://schemas.openxmlformats.org/officeDocument/2006/relationships/image" Target="/ppt/media/image11.png" Id="R6cbd5c7304a34a59" /><Relationship Type="http://schemas.openxmlformats.org/officeDocument/2006/relationships/image" Target="/ppt/media/image12.png" Id="R101b9cc33c3643ad" /><Relationship Type="http://schemas.openxmlformats.org/officeDocument/2006/relationships/image" Target="/ppt/media/image13.png" Id="R7e9b8b0f4bf443c8" /><Relationship Type="http://schemas.openxmlformats.org/officeDocument/2006/relationships/notesSlide" Target="/ppt/notesSlides/notesSlide10.xml" Id="R5929cb8033bf413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66bcfa961b46fe" /><Relationship Type="http://schemas.openxmlformats.org/officeDocument/2006/relationships/image" Target="/ppt/media/image14.png" Id="Ra6b4b16e75ac4254" /><Relationship Type="http://schemas.openxmlformats.org/officeDocument/2006/relationships/image" Target="/ppt/media/image15.png" Id="R5039ea54f87b49da" /><Relationship Type="http://schemas.openxmlformats.org/officeDocument/2006/relationships/notesSlide" Target="/ppt/notesSlides/notesSlide11.xml" Id="R69cea86e12c04a1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fdca9170414dce" /><Relationship Type="http://schemas.openxmlformats.org/officeDocument/2006/relationships/image" Target="/ppt/media/image16.png" Id="R0baff586d15340ed" /><Relationship Type="http://schemas.openxmlformats.org/officeDocument/2006/relationships/notesSlide" Target="/ppt/notesSlides/notesSlide12.xml" Id="R985a4de312064cd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da703b2f6d4c0d" /><Relationship Type="http://schemas.openxmlformats.org/officeDocument/2006/relationships/image" Target="/ppt/media/image17.png" Id="R1bc93802998b441a" /><Relationship Type="http://schemas.openxmlformats.org/officeDocument/2006/relationships/notesSlide" Target="/ppt/notesSlides/notesSlide13.xml" Id="R3e3b1ddbcb49429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7146126eda4571" /><Relationship Type="http://schemas.openxmlformats.org/officeDocument/2006/relationships/notesSlide" Target="/ppt/notesSlides/notesSlide14.xml" Id="R9b60beafbc034e9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d62e46659f4987" /><Relationship Type="http://schemas.openxmlformats.org/officeDocument/2006/relationships/notesSlide" Target="/ppt/notesSlides/notesSlide15.xml" Id="R2e6754e1f3ed4d4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f8330e1c8b42db" /><Relationship Type="http://schemas.openxmlformats.org/officeDocument/2006/relationships/image" Target="/ppt/media/image18.png" Id="Rd0131ba9ec3940e6" /><Relationship Type="http://schemas.openxmlformats.org/officeDocument/2006/relationships/image" Target="/ppt/media/image19.png" Id="R5005c7bb6cbe4be5" /><Relationship Type="http://schemas.openxmlformats.org/officeDocument/2006/relationships/notesSlide" Target="/ppt/notesSlides/notesSlide16.xml" Id="Rcdbd2e1da57b4ff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f54051356845c8" /><Relationship Type="http://schemas.openxmlformats.org/officeDocument/2006/relationships/notesSlide" Target="/ppt/notesSlides/notesSlide17.xml" Id="R0999a151907043a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c88bf47aeb4201" /><Relationship Type="http://schemas.openxmlformats.org/officeDocument/2006/relationships/notesSlide" Target="/ppt/notesSlides/notesSlide18.xml" Id="R07378b0a89834d6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07994354f14b3f" /><Relationship Type="http://schemas.openxmlformats.org/officeDocument/2006/relationships/notesSlide" Target="/ppt/notesSlides/notesSlide19.xml" Id="Rcdd90b63a78440e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ccf3a58d224c2d" /><Relationship Type="http://schemas.openxmlformats.org/officeDocument/2006/relationships/image" Target="/ppt/media/image20.png" Id="R2a36c7954be343aa" /><Relationship Type="http://schemas.openxmlformats.org/officeDocument/2006/relationships/notesSlide" Target="/ppt/notesSlides/notesSlide20.xml" Id="Rbd02e8b508a54bd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D18999-C04E-4DF2-B1D3-BEE701C60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352425"/>
            <a:ext cx="742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15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EB3713-3265-4ED1-94B4-09F270421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600075"/>
            <a:ext cx="4857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15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AA7626-068B-4877-B399-D8F59BA6D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52575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C315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C315E"/>
                </a:solidFill>
                <a:latin typeface="Hiragino Sans GB"/>
                <a:ea typeface="Hiragino Sans GB"/>
                <a:cs typeface="Hiragino Sans GB"/>
              </a:rPr>
              <a:t>硕士学位论文开题答辩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7D899C-43AD-4FE7-8837-FB7ED8483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0955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C315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600" b="1">
                <a:solidFill>
                  <a:srgbClr val="1C315E"/>
                </a:solidFill>
                <a:latin typeface="Hiragino Sans GB"/>
                <a:ea typeface="Hiragino Sans GB"/>
                <a:cs typeface="Hiragino Sans GB"/>
              </a:rPr>
              <a:t>工具调用型大语言模型智能体故障诊断的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E462E1-E790-4F3F-B281-029EC10E3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733675"/>
            <a:ext cx="5429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C315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600" b="1">
                <a:solidFill>
                  <a:srgbClr val="1C315E"/>
                </a:solidFill>
                <a:latin typeface="Hiragino Sans GB"/>
                <a:ea typeface="Hiragino Sans GB"/>
                <a:cs typeface="Hiragino Sans GB"/>
              </a:rPr>
              <a:t>信息表征与交互设计研究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C132E2-2CF8-49AF-9E68-C9A30CDC6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295650"/>
            <a:ext cx="8801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15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FB5D3C-09F8-40FE-8CDB-A7F0E3D15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3514725"/>
            <a:ext cx="571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C315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1C315E"/>
                </a:solidFill>
                <a:latin typeface="Hiragino Sans GB"/>
                <a:ea typeface="Hiragino Sans GB"/>
                <a:cs typeface="Hiragino Sans GB"/>
              </a:rPr>
              <a:t>华中科技大学  |  设计学院  |  设计学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F5FA6C-327E-454E-B499-6493B101B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91100"/>
            <a:ext cx="121920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15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0D7B32-359C-4AA3-8B71-E8C753880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743575"/>
            <a:ext cx="2333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答辩人：陈思静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6B3589-A15F-4C01-92A4-0A6015807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74357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学号：M20270493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209523-6201-4AAF-A82E-8A0EECABB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743575"/>
            <a:ext cx="1952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导师：何心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44A837-07A5-431D-BE53-E5A1D4AD0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743575"/>
            <a:ext cx="304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日期：2026/09/24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473e1ba8694520"/>
          <a:stretch xmlns:a="http://schemas.openxmlformats.org/drawingml/2006/main"/>
        </p:blipFill>
        <p:spPr>
          <a:xfrm xmlns:a="http://schemas.openxmlformats.org/drawingml/2006/main">
            <a:off x="9620250" y="209550"/>
            <a:ext cx="2228850" cy="6286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895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F915FE-5D67-40F2-8581-C51CCD408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"/>
            <a:ext cx="10744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8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33B864-28EC-45A5-BA7B-A2E029A21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"/>
            <a:ext cx="10744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rPr>
              <a:t>开题报告 · 目录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97FD18-F562-4DF1-A418-BA73AF0B1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90575"/>
            <a:ext cx="10744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rPr>
              <a:t>汇报内容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4A2AB5-C183-4CC3-80B2-A76D26B9F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EAF78B-CA36-4111-B431-C8B159A60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09825"/>
            <a:ext cx="1074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2D9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B18BB5-03EB-43E0-8282-C0C792652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66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EC6444-3856-4601-B30E-C70E84036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762125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rPr>
              <a:t>选题依据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7A4351-5507-46E3-828B-5B7A96505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00225"/>
            <a:ext cx="552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2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36275"/>
                </a:solidFill>
                <a:latin typeface="Hiragino Sans GB"/>
                <a:ea typeface="Hiragino Sans GB"/>
                <a:cs typeface="Hiragino Sans GB"/>
              </a:rPr>
              <a:t>研究来源、背景、目的及意义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C1E5C4-2538-4FFB-AA93-8CE86C247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28975"/>
            <a:ext cx="1074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2D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2E68A0-7DCB-47D1-B867-AFBEC2D03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1275"/>
            <a:ext cx="66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CAA801-5B86-4FF2-B5D8-8C34802D2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581275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rPr>
              <a:t>国内外研究综述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85185B-FF35-44F2-A251-63E75BB05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619375"/>
            <a:ext cx="552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2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36275"/>
                </a:solidFill>
                <a:latin typeface="Hiragino Sans GB"/>
                <a:ea typeface="Hiragino Sans GB"/>
                <a:cs typeface="Hiragino Sans GB"/>
              </a:rPr>
              <a:t>错误溯源任务、已知困难、工具评价与研究不足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86FA41-3411-4E32-A395-A9363CC9B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48125"/>
            <a:ext cx="1074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2D9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9891CF-89A7-4B38-ACFF-DCD85DA34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00425"/>
            <a:ext cx="66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819C71-570C-42D9-ABBD-BD137C716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400425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rPr>
              <a:t>研究问题与方法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9C73DE-5881-4983-AB4E-F0CBE74A8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438525"/>
            <a:ext cx="552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2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36275"/>
                </a:solidFill>
                <a:latin typeface="Hiragino Sans GB"/>
                <a:ea typeface="Hiragino Sans GB"/>
                <a:cs typeface="Hiragino Sans GB"/>
              </a:rPr>
              <a:t>对象与理论、形成性研究、设计与评价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EB46A7-AF1C-444F-A957-01143A22C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67275"/>
            <a:ext cx="1074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2D9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568BDA-B604-47AB-842A-4D7DD62E4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19575"/>
            <a:ext cx="66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7E4ECD-7BD5-494B-A0FF-26FAA43B9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219575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rPr>
              <a:t>研究框架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21B0A5-8B82-4F25-8205-763340ABA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257675"/>
            <a:ext cx="552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2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36275"/>
                </a:solidFill>
                <a:latin typeface="Hiragino Sans GB"/>
                <a:ea typeface="Hiragino Sans GB"/>
                <a:cs typeface="Hiragino Sans GB"/>
              </a:rPr>
              <a:t>研究阶段、产出与衔接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91F99E-9B3E-465B-B738-EE3EA460E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86425"/>
            <a:ext cx="1074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2D9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DDEFE5-7BCB-41EB-8D26-B0356FD05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38725"/>
            <a:ext cx="66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BFEE6A-A31A-48F2-A50B-0BE167C77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038725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rPr>
              <a:t>计划进度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A3AC28-F708-431E-BF33-1B9ABB277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076825"/>
            <a:ext cx="552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2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536275"/>
                </a:solidFill>
                <a:latin typeface="Hiragino Sans GB"/>
                <a:ea typeface="Hiragino Sans GB"/>
                <a:cs typeface="Hiragino Sans GB"/>
              </a:rPr>
              <a:t>2026.09—2028.05</a:t>
            </a:r>
          </a:p>
        </p:txBody>
      </p:sp>
    </p:spTree>
    <p:extLst>
      <p:ext uri="{BB962C8B-B14F-4D97-AF65-F5344CB8AC3E}">
        <p14:creationId xmlns:p14="http://schemas.microsoft.com/office/powerpoint/2010/main" val="21368838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78E754-7F62-4662-A76E-EBF219E03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"/>
            <a:ext cx="10744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8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290841-3A32-4AC6-AD11-9A8C5095E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"/>
            <a:ext cx="10744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rPr>
              <a:t>1　选题依据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E295E7-0C96-4F94-922F-C7C9612D5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90575"/>
            <a:ext cx="10744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rPr>
              <a:t>1.1 研究来源：开发中的故障诊断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0EFD27-3E97-440D-AF4C-4D4FAF656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80" b="0">
                <a:solidFill>
                  <a:srgbClr val="5362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80" b="0">
                <a:solidFill>
                  <a:srgbClr val="536275"/>
                </a:solidFill>
                <a:latin typeface="Hiragino Sans GB"/>
                <a:ea typeface="Hiragino Sans GB"/>
                <a:cs typeface="Hiragino Sans GB"/>
              </a:rPr>
              <a:t>[1] HUTTER R, PRADEL M. AgentStepper: Interactive Debugging of Software Development Agents[EB/OL]. arXiv:2602.06593, 2026.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CD91C1-D8FE-4A10-8DBD-B80F48CEE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1593E2-E1D2-4E59-B5BE-786516F11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95425"/>
            <a:ext cx="3429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13" b="0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13" b="0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rPr>
              <a:t>任务失败后，开发者需要把 最终症状 与分散的 运行记录 联系起来，判断问题发生在哪一步。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C72D6D-DB99-4CA0-9039-B4BAD9B5E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2D9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2E6342-9BE6-4595-832F-3898A4A5B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81300"/>
            <a:ext cx="3714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F84C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5F84C6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9E3ACB-B906-48E6-BC03-91366CA53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7813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rPr>
              <a:t>看到失败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30E171-7A8B-4F35-B6FC-A1C85F1D6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57525"/>
            <a:ext cx="2819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2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536275"/>
                </a:solidFill>
                <a:latin typeface="Hiragino Sans GB"/>
                <a:ea typeface="Hiragino Sans GB"/>
                <a:cs typeface="Hiragino Sans GB"/>
              </a:rPr>
              <a:t>错误回答或执行中断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D321F7-D543-4B1D-8B3F-A7BD1F137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19475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2D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7843BE-C8A4-4C65-83C3-FE6555BF5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14725"/>
            <a:ext cx="3714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F84C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5F84C6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4979BC-0E32-4DFD-AE50-CE58B6F58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147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rPr>
              <a:t>查阅记录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A0E468-6F53-45D9-BBD4-DE5271A63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90950"/>
            <a:ext cx="2819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2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536275"/>
                </a:solidFill>
                <a:latin typeface="Hiragino Sans GB"/>
                <a:ea typeface="Hiragino Sans GB"/>
                <a:cs typeface="Hiragino Sans GB"/>
              </a:rPr>
              <a:t>模型请求、工具调用、状态变化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07B718-227F-4121-B312-081FD1A9F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5290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2D9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A82889-FC48-41D7-9F8C-FBEFF210B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48150"/>
            <a:ext cx="3714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F84C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5F84C6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814F54-44F2-46F0-A93D-EF44BAD44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481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rPr>
              <a:t>解释原因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BE4281-7735-4DF4-A28F-D172EAB4C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524375"/>
            <a:ext cx="2819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2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536275"/>
                </a:solidFill>
                <a:latin typeface="Hiragino Sans GB"/>
                <a:ea typeface="Hiragino Sans GB"/>
                <a:cs typeface="Hiragino Sans GB"/>
              </a:rPr>
              <a:t>说明可疑事件如何影响结果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0ae9e5531c4ca3"/>
          <a:stretch xmlns:a="http://schemas.openxmlformats.org/drawingml/2006/main"/>
        </p:blipFill>
        <p:spPr>
          <a:xfrm xmlns:a="http://schemas.openxmlformats.org/drawingml/2006/main">
            <a:off x="4371975" y="1704894"/>
            <a:ext cx="7096125" cy="2991012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99291A-C1CD-4C0A-9D9B-3A6E3212E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867275"/>
            <a:ext cx="7096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362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38" b="0">
                <a:solidFill>
                  <a:srgbClr val="536275"/>
                </a:solidFill>
                <a:latin typeface="Hiragino Sans GB"/>
                <a:ea typeface="Hiragino Sans GB"/>
                <a:cs typeface="Hiragino Sans GB"/>
              </a:rPr>
              <a:t>Hutter 与 Pradel，2026，AgentStepper，Fig. 1。已有开发工具示例，展示开发者与运行事件、模型和工具的关系。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DF5797-2704-45F8-A2C9-65ABB37AE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72125"/>
            <a:ext cx="107442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B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851AC4-2686-47EA-B145-CCEF998CB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5610225"/>
            <a:ext cx="10401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rPr>
              <a:t>研究现场：调用平台  ·  运行日志  ·  配置与代码  →  查找、关联与原因判断</a:t>
            </a:r>
          </a:p>
        </p:txBody>
      </p:sp>
    </p:spTree>
    <p:extLst>
      <p:ext uri="{BB962C8B-B14F-4D97-AF65-F5344CB8AC3E}">
        <p14:creationId xmlns:p14="http://schemas.microsoft.com/office/powerpoint/2010/main" val="12243275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D7B1BC-26AD-4F73-80BE-13EE3AAAA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"/>
            <a:ext cx="10744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8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AA5465-8CB8-4EEB-B8DF-82ACF4E78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"/>
            <a:ext cx="10744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rPr>
              <a:t>1　选题依据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485038-6540-4414-9845-DD8616035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90575"/>
            <a:ext cx="10744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rPr>
              <a:t>1.2 研究背景：失败涉及多个环节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749F03-5E11-4146-AE22-92E98D47E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80" b="0">
                <a:solidFill>
                  <a:srgbClr val="5362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80" b="0">
                <a:solidFill>
                  <a:srgbClr val="536275"/>
                </a:solidFill>
                <a:latin typeface="Hiragino Sans GB"/>
                <a:ea typeface="Hiragino Sans GB"/>
                <a:cs typeface="Hiragino Sans GB"/>
              </a:rPr>
              <a:t>[2] YAO S, et al. ReAct: Synergizing Reasoning and Acting in Language Models[C]//ICLR. 2023. [3] CEMRI M, et al. Why Do Multi-Agent LLM Systems Fail?[C]//NeurIPS. 2025.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F00D55-F37E-4E0A-A6AD-A587BA6A0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E302F4-0BC8-482B-8FAC-47A0E9B46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38275"/>
            <a:ext cx="10744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rPr>
              <a:t>工具调用型智能体交替进行 模型请求、外部工具调用和状态更新 。最终症状可能来自前面多个运行环节。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2d33ad0ef34931"/>
          <a:stretch xmlns:a="http://schemas.openxmlformats.org/drawingml/2006/main"/>
        </p:blipFill>
        <p:spPr>
          <a:xfrm xmlns:a="http://schemas.openxmlformats.org/drawingml/2006/main">
            <a:off x="723900" y="2240640"/>
            <a:ext cx="4286250" cy="264342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28C50A-C24A-4A19-9D33-FA4C71AE3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9110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362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38" b="0">
                <a:solidFill>
                  <a:srgbClr val="536275"/>
                </a:solidFill>
                <a:latin typeface="Hiragino Sans GB"/>
                <a:ea typeface="Hiragino Sans GB"/>
                <a:cs typeface="Hiragino Sans GB"/>
              </a:rPr>
              <a:t>MAST，Fig. 1：原研究的多智能体任务结果；数值不代表本课题单个主要智能体的失败率。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2a41b0f3ad4e48"/>
          <a:stretch xmlns:a="http://schemas.openxmlformats.org/drawingml/2006/main"/>
        </p:blipFill>
        <p:spPr>
          <a:xfrm xmlns:a="http://schemas.openxmlformats.org/drawingml/2006/main">
            <a:off x="5866323" y="2181225"/>
            <a:ext cx="5069454" cy="235267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06B161-47BD-498C-B866-B76226B91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572000"/>
            <a:ext cx="6134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362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38" b="0">
                <a:solidFill>
                  <a:srgbClr val="536275"/>
                </a:solidFill>
                <a:latin typeface="Hiragino Sans GB"/>
                <a:ea typeface="Hiragino Sans GB"/>
                <a:cs typeface="Hiragino Sans GB"/>
              </a:rPr>
              <a:t>MAST，Fig. 2：故障可涉及规格、协同和验证；仅作相关故障范围参照。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f7661e8fc2443c"/>
          <a:stretch xmlns:a="http://schemas.openxmlformats.org/drawingml/2006/main"/>
        </p:blipFill>
        <p:spPr>
          <a:xfrm xmlns:a="http://schemas.openxmlformats.org/drawingml/2006/main">
            <a:off x="6935431" y="4991100"/>
            <a:ext cx="2931238" cy="790575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FA1F50-C9AC-4055-B356-8F75553CE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781675"/>
            <a:ext cx="6134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362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38" b="0">
                <a:solidFill>
                  <a:srgbClr val="536275"/>
                </a:solidFill>
                <a:latin typeface="Hiragino Sans GB"/>
                <a:ea typeface="Hiragino Sans GB"/>
                <a:cs typeface="Hiragino Sans GB"/>
              </a:rPr>
              <a:t>ReAct 作者项目图：推理、行动和环境观察交替，提示需要跨步骤回查。</a:t>
            </a:r>
          </a:p>
        </p:txBody>
      </p:sp>
    </p:spTree>
    <p:extLst>
      <p:ext uri="{BB962C8B-B14F-4D97-AF65-F5344CB8AC3E}">
        <p14:creationId xmlns:p14="http://schemas.microsoft.com/office/powerpoint/2010/main" val="11611952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0F3DF5B-C029-4502-8DF8-D25191A8F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"/>
            <a:ext cx="10744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8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EC02D4-288C-48A1-BB0D-42F5EA334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"/>
            <a:ext cx="10744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rPr>
              <a:t>1　选题依据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19FFF8-F2DC-45DC-82A2-9533FA588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90575"/>
            <a:ext cx="10744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rPr>
              <a:t>1.3 研究目的及意义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862F28-2CE8-4179-A949-292F0241C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80" b="0">
                <a:solidFill>
                  <a:srgbClr val="5362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80" b="0">
                <a:solidFill>
                  <a:srgbClr val="536275"/>
                </a:solidFill>
                <a:latin typeface="Hiragino Sans GB"/>
                <a:ea typeface="Hiragino Sans GB"/>
                <a:cs typeface="Hiragino Sans GB"/>
              </a:rPr>
              <a:t>[4] HÖÖK K, LÖWGREN J. Strong Concepts: Intermediate-Level Knowledge in Interaction Design Research[J]. ACM TOCHI, 2012, 19(3): 23:1–23:18.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B6994A-09FA-48B2-B756-A7524C160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37491E-11AF-41CD-BCA7-27D2264B7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382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rPr>
              <a:t>识别现有工具下的错误溯源困难，选择一项关键困难提出交互设计，并检验其能否改善有依据的原因判断。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5AB611-6D42-4687-9408-2A34283F0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32575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CBD5E0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6026CB-5FA1-486F-8606-7303EDA23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67000"/>
            <a:ext cx="3257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84C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C084B6-154C-45ED-A4BF-DEF247975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38450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rPr>
              <a:t>01 识别困难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0EF8F6-6CED-47AB-8178-D271B7383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28975"/>
            <a:ext cx="29146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13" b="0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13" b="0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rPr>
              <a:t>真实排错事件＋任务观察</a:t>
            </a:r>
          </a:p>
          <a:p xmlns:a="http://schemas.openxmlformats.org/drawingml/2006/main">
            <a:pPr>
              <a:defRPr sz="1313" b="0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13" b="0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rPr>
              <a:t>条件与实际后果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A3AACD-3C54-4956-B4B1-C971E9F13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3286125"/>
            <a:ext cx="333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5F84C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5F84C6"/>
                </a:solidFill>
                <a:latin typeface="Hiragino Sans GB"/>
                <a:ea typeface="Hiragino Sans GB"/>
                <a:cs typeface="Hiragino Sans GB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ED092E-F186-48C1-B870-F7147EC29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667000"/>
            <a:ext cx="32575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CBD5E0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8DED96-9D52-4391-9E5C-A5E3C4BF8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667000"/>
            <a:ext cx="3257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84C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9A14C3-54AA-4583-9F9D-9915645A4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838450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rPr>
              <a:t>02 提出设计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EB2B3E-A4D1-4AB0-AC47-EBD2AFA5A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228975"/>
            <a:ext cx="29146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13" b="0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13" b="0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rPr>
              <a:t>比较备选方案＋迭代原型</a:t>
            </a:r>
          </a:p>
          <a:p xmlns:a="http://schemas.openxmlformats.org/drawingml/2006/main">
            <a:pPr>
              <a:defRPr sz="1313" b="0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13" b="0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rPr>
              <a:t>明确一项设计主张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E7CADF-CFB6-4F34-889D-70314D5CB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86125"/>
            <a:ext cx="333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5F84C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5F84C6"/>
                </a:solidFill>
                <a:latin typeface="Hiragino Sans GB"/>
                <a:ea typeface="Hiragino Sans GB"/>
                <a:cs typeface="Hiragino Sans GB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0C6763-15D7-42BA-8735-077E6692B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667000"/>
            <a:ext cx="32575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CBD5E0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DC417C-1647-4458-BFB1-1D2824F3D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667000"/>
            <a:ext cx="3257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84C6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D988A6-EB3C-4F49-AA45-CA6FE9089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38450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rPr>
              <a:t>03 验证作用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F2DD72-6B86-48B3-B3C4-4E002ED68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228975"/>
            <a:ext cx="29146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13" b="0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13" b="0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rPr>
              <a:t>对照任务评价＋新案例检验</a:t>
            </a:r>
          </a:p>
          <a:p xmlns:a="http://schemas.openxmlformats.org/drawingml/2006/main">
            <a:pPr>
              <a:defRPr sz="1313" b="0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13" b="0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rPr>
              <a:t>判断质量与完成成本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7665C9-97CF-4101-B941-FE43C06F7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29175"/>
            <a:ext cx="51720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CBD5E0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6F7DDA-B6CE-4355-8675-7D1B1C1D8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29175"/>
            <a:ext cx="51720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84C6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4FB105-92D0-4DF5-9C6B-890D963E1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00625"/>
            <a:ext cx="48291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rPr>
              <a:t>理论意义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AB5EED-A52A-4E4A-8038-4AE606ECC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91150"/>
            <a:ext cx="48291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13" b="0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13" b="0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rPr>
              <a:t>补充自然语言记录、概率性输出和外部工具混合情境下的开发者诊断经验；形成有适用条件的设计原则。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311BB7-CBA8-49C9-913D-E88840DE1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829175"/>
            <a:ext cx="5400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CBD5E0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552D74-4C67-437A-B1C2-E7A3B8029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829175"/>
            <a:ext cx="54006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84C6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E23B38B-EC28-4204-92CB-C2F33EBD0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000625"/>
            <a:ext cx="50577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rPr>
              <a:t>实践意义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A2934D-DFEF-4595-9ACB-8E96B9E23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391150"/>
            <a:ext cx="50577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13" b="0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13" b="0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rPr>
              <a:t>形成可复现案例、研究原型与评分材料，为调试界面的信息组织和检查操作提供依据。</a:t>
            </a:r>
          </a:p>
        </p:txBody>
      </p:sp>
    </p:spTree>
    <p:extLst>
      <p:ext uri="{BB962C8B-B14F-4D97-AF65-F5344CB8AC3E}">
        <p14:creationId xmlns:p14="http://schemas.microsoft.com/office/powerpoint/2010/main" val="10707244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8B625A-1F31-4359-A92E-EEA26ABBD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"/>
            <a:ext cx="10744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8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3A6E4D-7D34-4B3E-8AF2-9648CD69F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"/>
            <a:ext cx="10744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rPr>
              <a:t>2.1　工具调用型智能体的错误溯源任务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5950B3-236C-4B9F-8A32-E24863712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90575"/>
            <a:ext cx="10744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rPr>
              <a:t>2.1.1 从任务失败回查运行过程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9C22AA-BA6B-411D-B397-8C7176098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80" b="0">
                <a:solidFill>
                  <a:srgbClr val="5362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80" b="0">
                <a:solidFill>
                  <a:srgbClr val="536275"/>
                </a:solidFill>
                <a:latin typeface="Hiragino Sans GB"/>
                <a:ea typeface="Hiragino Sans GB"/>
                <a:cs typeface="Hiragino Sans GB"/>
              </a:rPr>
              <a:t>[2] YAO S, et al. ReAct: Synergizing Reasoning and Acting in Language Models[C]//ICLR. 2023.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A35448-EA54-4D4C-945A-36467DCC9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0056A8-9D4E-48E6-B5F6-49F9271A3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19225"/>
            <a:ext cx="1074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rPr>
              <a:t>ReAct 展示了推理、行动和环境观察交替发生的任务过程。最终症状可能由多个运行步骤共同造成。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15da6157eb4352"/>
          <a:stretch xmlns:a="http://schemas.openxmlformats.org/drawingml/2006/main"/>
        </p:blipFill>
        <p:spPr>
          <a:xfrm xmlns:a="http://schemas.openxmlformats.org/drawingml/2006/main">
            <a:off x="1628510" y="2190750"/>
            <a:ext cx="8934979" cy="24098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771CA7-0F89-482D-8590-D29E1FCE5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76775"/>
            <a:ext cx="10744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362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38" b="0">
                <a:solidFill>
                  <a:srgbClr val="536275"/>
                </a:solidFill>
                <a:latin typeface="Hiragino Sans GB"/>
                <a:ea typeface="Hiragino Sans GB"/>
                <a:cs typeface="Hiragino Sans GB"/>
              </a:rPr>
              <a:t>Yao 等，ReAct 作者项目页方法示意（无论文图号）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B78B52-B3F5-415E-9509-C6476CE30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24475"/>
            <a:ext cx="335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2D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631E18-1507-4507-9DCF-9AF60074D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38775"/>
            <a:ext cx="323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rPr>
              <a:t>分析起点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9F3CB1-995A-4F03-8E01-D8677B68C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0"/>
            <a:ext cx="3238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2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536275"/>
                </a:solidFill>
                <a:latin typeface="Hiragino Sans GB"/>
                <a:ea typeface="Hiragino Sans GB"/>
                <a:cs typeface="Hiragino Sans GB"/>
              </a:rPr>
              <a:t>任务目标与失败表现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57783C-A67D-4D33-8B19-F3C1B4829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324475"/>
            <a:ext cx="335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2D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172C57-31EE-4FE4-8B6F-558D93623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438775"/>
            <a:ext cx="323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rPr>
              <a:t>回查对象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70E8D0-A045-4228-8537-7BD14FAB4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715000"/>
            <a:ext cx="3238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2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536275"/>
                </a:solidFill>
                <a:latin typeface="Hiragino Sans GB"/>
                <a:ea typeface="Hiragino Sans GB"/>
                <a:cs typeface="Hiragino Sans GB"/>
              </a:rPr>
              <a:t>模型输出、工具交互与状态传递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8118E3-3D6A-497D-AC4D-0B068F9C6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324475"/>
            <a:ext cx="335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2D9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10E635-E34E-4908-ADED-242DB5C12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438775"/>
            <a:ext cx="323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rPr>
              <a:t>诊断结果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F0BACD-BBEA-40A5-9517-2886BA8D5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715000"/>
            <a:ext cx="3238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2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536275"/>
                </a:solidFill>
                <a:latin typeface="Hiragino Sans GB"/>
                <a:ea typeface="Hiragino Sans GB"/>
                <a:cs typeface="Hiragino Sans GB"/>
              </a:rPr>
              <a:t>说明可疑步骤与失败的联系</a:t>
            </a:r>
          </a:p>
        </p:txBody>
      </p:sp>
    </p:spTree>
    <p:extLst>
      <p:ext uri="{BB962C8B-B14F-4D97-AF65-F5344CB8AC3E}">
        <p14:creationId xmlns:p14="http://schemas.microsoft.com/office/powerpoint/2010/main" val="25371825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7726AB-B18D-44EB-A44A-B24486248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"/>
            <a:ext cx="10744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8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FD83A2-3B83-4CBC-8131-E59E708CD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"/>
            <a:ext cx="10744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rPr>
              <a:t>2.1　工具调用型智能体的错误溯源任务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590C5C-4FC2-43CF-94EB-08289BABF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90575"/>
            <a:ext cx="10744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rPr>
              <a:t>2.1.2 运行记录与自动归因提供的基础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510628-CE7E-4432-A9C3-F746CFF57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80" b="0">
                <a:solidFill>
                  <a:srgbClr val="5362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80" b="0">
                <a:solidFill>
                  <a:srgbClr val="536275"/>
                </a:solidFill>
                <a:latin typeface="Hiragino Sans GB"/>
                <a:ea typeface="Hiragino Sans GB"/>
                <a:cs typeface="Hiragino Sans GB"/>
              </a:rPr>
              <a:t>[5] FONSECA R, et al. X-Trace: A Pervasive Network Tracing Framework[C]//NSDI. 2007: 271–284. [6] ZHENG Y, et al. AgentSight: System-Level Observability for AI Agents Using eBPF[EB/OL]. arXiv:2508.02736, 2025. [7] CHEN M, et al. From Failed Trajectories to Reliable LLM Agents: Diagnosing and Repairing Harness Flaws[EB/OL]. arXiv:2606.06324, 2026.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E0454E-C256-43FC-85C5-222D76834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547033-3CF1-4AC2-AEB3-E23867315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66875"/>
            <a:ext cx="370522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CBD5E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59A971-9D5C-44A2-B713-A3FC4C4AD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66875"/>
            <a:ext cx="37052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84C6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8506D7-0411-4808-93A5-0870DA1F9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38325"/>
            <a:ext cx="3362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rPr>
              <a:t>运行追踪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564FD5-0785-443A-B60E-E7A6B8FFC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28850"/>
            <a:ext cx="33623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13" b="0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13" b="0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rPr>
              <a:t>跨组件标识、事件采集和查询使部分运行事实可以关联。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9C565B-9C16-4D47-AA4E-E2E7782AC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14700"/>
            <a:ext cx="370522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CBD5E0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362F8C-662A-4C39-AC47-1012E7237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14700"/>
            <a:ext cx="37052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84C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FA07B9-18DF-4588-90AC-58D47E06F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86150"/>
            <a:ext cx="3362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rPr>
              <a:t>自动归因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E7D2A0-1A43-4423-9B98-CAC488F20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76675"/>
            <a:ext cx="33623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13" b="0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13" b="0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rPr>
              <a:t>责任主体、可疑步骤或框架缺陷定位可以提供检查线索。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402ED7-F6FF-499B-9858-F01B79016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76825"/>
            <a:ext cx="37052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rPr>
              <a:t>交互设计仍需回答： 开发者怎样理解这些记录，并核验原因解释？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b49e5e8081445a"/>
          <a:stretch xmlns:a="http://schemas.openxmlformats.org/drawingml/2006/main"/>
        </p:blipFill>
        <p:spPr>
          <a:xfrm xmlns:a="http://schemas.openxmlformats.org/drawingml/2006/main">
            <a:off x="6121510" y="1685925"/>
            <a:ext cx="4006630" cy="3743325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C16567-4BC4-4EA6-A4BB-B3A80B2B2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476875"/>
            <a:ext cx="6686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362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38" b="0">
                <a:solidFill>
                  <a:srgbClr val="536275"/>
                </a:solidFill>
                <a:latin typeface="Hiragino Sans GB"/>
                <a:ea typeface="Hiragino Sans GB"/>
                <a:cs typeface="Hiragino Sans GB"/>
              </a:rPr>
              <a:t>Zheng 等，2025，AgentSight，Fig. 1。图示跨层观测范围，不代表自动归因效果。</a:t>
            </a:r>
          </a:p>
        </p:txBody>
      </p:sp>
    </p:spTree>
    <p:extLst>
      <p:ext uri="{BB962C8B-B14F-4D97-AF65-F5344CB8AC3E}">
        <p14:creationId xmlns:p14="http://schemas.microsoft.com/office/powerpoint/2010/main" val="62052765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739BE2-AE2E-4B4E-8E91-4653EF966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"/>
            <a:ext cx="10744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8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31831D-43F4-486B-86D9-5F31890FC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"/>
            <a:ext cx="10744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rPr>
              <a:t>2.2　开发者错误溯源中的已知困难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A2BC2D-494C-4E4B-9144-EF028DCBB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90575"/>
            <a:ext cx="10744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rPr>
              <a:t>2.2.1 长轨迹检查与原因判断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2631D5-D430-4EAF-BF2E-204E4B895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80" b="0">
                <a:solidFill>
                  <a:srgbClr val="5362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80" b="0">
                <a:solidFill>
                  <a:srgbClr val="536275"/>
                </a:solidFill>
                <a:latin typeface="Hiragino Sans GB"/>
                <a:ea typeface="Hiragino Sans GB"/>
                <a:cs typeface="Hiragino Sans GB"/>
              </a:rPr>
              <a:t>[8] EPPERSON W, et al. Interactive Debugging and Steering of Multi-Agent AI Systems[C]//CHI. 2025.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BE9DDD-4FA3-42BF-8755-AAF5BB445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369B99-159D-4503-9F89-08755935B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57325"/>
            <a:ext cx="10744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rPr>
              <a:t>开发者既要识别错误，也要决定检查或修改哪里。交互操作可用时，运行理解仍可能耗时。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8aa0029ac94da6"/>
          <a:stretch xmlns:a="http://schemas.openxmlformats.org/drawingml/2006/main"/>
        </p:blipFill>
        <p:spPr>
          <a:xfrm xmlns:a="http://schemas.openxmlformats.org/drawingml/2006/main">
            <a:off x="1575435" y="2381250"/>
            <a:ext cx="9041130" cy="20002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3802BA-87A5-4A6C-8B44-1E86573C2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38650"/>
            <a:ext cx="10744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362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38" b="0">
                <a:solidFill>
                  <a:srgbClr val="536275"/>
                </a:solidFill>
                <a:latin typeface="Hiragino Sans GB"/>
                <a:ea typeface="Hiragino Sans GB"/>
                <a:cs typeface="Hiragino Sans GB"/>
              </a:rPr>
              <a:t>Epperson 等，2025，AGDebugger，Fig. 2：识别错误与尝试修复的循环。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5C47C5-F9F9-43D2-ACAC-A5F942D53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6255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2D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9EDCFA-54E6-4B6B-ABC1-09E3FC667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7685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rPr>
              <a:t>阅读负担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2772A1-1444-4F50-AF8D-6ED77D02D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81650"/>
            <a:ext cx="3238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2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536275"/>
                </a:solidFill>
                <a:latin typeface="Hiragino Sans GB"/>
                <a:ea typeface="Hiragino Sans GB"/>
                <a:cs typeface="Hiragino Sans GB"/>
              </a:rPr>
              <a:t>长对话需要逐条检查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A60E03-5559-474E-A749-618A84F2B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16255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2D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7759B3-5F10-4180-9C04-1D2D75BF6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27685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rPr>
              <a:t>上下文理解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2C5991-C550-445B-88DB-32602158E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581650"/>
            <a:ext cx="3238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2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536275"/>
                </a:solidFill>
                <a:latin typeface="Hiragino Sans GB"/>
                <a:ea typeface="Hiragino Sans GB"/>
                <a:cs typeface="Hiragino Sans GB"/>
              </a:rPr>
              <a:t>理解步骤之间的信息使用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D91A09-0A1F-49CE-801F-D9DC38A93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16255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2D9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BB6376-473E-4FA2-BAD2-44F1C56F9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27685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rPr>
              <a:t>效果判断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59789F-07A2-4246-9973-395AE0F5E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581650"/>
            <a:ext cx="3238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2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536275"/>
                </a:solidFill>
                <a:latin typeface="Hiragino Sans GB"/>
                <a:ea typeface="Hiragino Sans GB"/>
                <a:cs typeface="Hiragino Sans GB"/>
              </a:rPr>
              <a:t>修改后仍需核验新运行</a:t>
            </a:r>
          </a:p>
        </p:txBody>
      </p:sp>
    </p:spTree>
    <p:extLst>
      <p:ext uri="{BB962C8B-B14F-4D97-AF65-F5344CB8AC3E}">
        <p14:creationId xmlns:p14="http://schemas.microsoft.com/office/powerpoint/2010/main" val="119503663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9554F1-E1DE-4149-B137-42AC0FF0B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"/>
            <a:ext cx="10744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8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387C64-089C-425A-B6EE-889AB4F5D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"/>
            <a:ext cx="10744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rPr>
              <a:t>2.2　开发者错误溯源中的已知困难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97B8CC-9334-4877-9DF0-8AE58EC21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90575"/>
            <a:ext cx="10744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rPr>
              <a:t>2.2.2 信息查找与系统理解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CF1338-5851-4FAD-97C8-289401F9D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80" b="0">
                <a:solidFill>
                  <a:srgbClr val="5362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80" b="0">
                <a:solidFill>
                  <a:srgbClr val="536275"/>
                </a:solidFill>
                <a:latin typeface="Hiragino Sans GB"/>
                <a:ea typeface="Hiragino Sans GB"/>
                <a:cs typeface="Hiragino Sans GB"/>
              </a:rPr>
              <a:t>[9] KO A J, MYERS B A. Finding Causes of Program Output with the Java Whyline[C]//CHI. 2009: 1569–1578. [10] LAWRANCE J, et al. How Programmers Debug, Revisited: An Information Foraging Theory Perspective[J]. IEEE TSE, 2013, 39(2): 197–215.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58A876-A1AE-4EA5-9B37-85FA218A7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1FF81C-9263-454D-AB2F-77D049FF0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19225"/>
            <a:ext cx="10744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rPr>
              <a:t>Whyline 的两幅原图展示了从异常输出提问、再回到相关执行事件的入口与路径。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e914fdd97f4609"/>
          <a:stretch xmlns:a="http://schemas.openxmlformats.org/drawingml/2006/main"/>
        </p:blipFill>
        <p:spPr>
          <a:xfrm xmlns:a="http://schemas.openxmlformats.org/drawingml/2006/main">
            <a:off x="1011691" y="2143125"/>
            <a:ext cx="4625068" cy="29432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046444-401B-4045-B1F1-436C5C06B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62550"/>
            <a:ext cx="5200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362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38" b="0">
                <a:solidFill>
                  <a:srgbClr val="536275"/>
                </a:solidFill>
                <a:latin typeface="Hiragino Sans GB"/>
                <a:ea typeface="Hiragino Sans GB"/>
                <a:cs typeface="Hiragino Sans GB"/>
              </a:rPr>
              <a:t>Ko 与 Myers，2009，Whyline，Fig. 1：从可见输出提出问题。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6150fcb62e4fba"/>
          <a:stretch xmlns:a="http://schemas.openxmlformats.org/drawingml/2006/main"/>
        </p:blipFill>
        <p:spPr>
          <a:xfrm xmlns:a="http://schemas.openxmlformats.org/drawingml/2006/main">
            <a:off x="6478179" y="2143125"/>
            <a:ext cx="4779192" cy="294322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BC0C8B-90A8-49C4-91E6-944D5B72B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162550"/>
            <a:ext cx="5200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362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38" b="0">
                <a:solidFill>
                  <a:srgbClr val="536275"/>
                </a:solidFill>
                <a:latin typeface="Hiragino Sans GB"/>
                <a:ea typeface="Hiragino Sans GB"/>
                <a:cs typeface="Hiragino Sans GB"/>
              </a:rPr>
              <a:t>Ko 与 Myers，2009，Whyline，Fig. 2：回查相关执行事件。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42F432-D3E6-4F68-BDA9-21B806971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34050"/>
            <a:ext cx="10744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rPr>
              <a:t>程序调试研究说明信息线索与导航成本会影响理解；工具调用型智能体中，哪些材料关系最难判断仍需在目标人群中观察。</a:t>
            </a:r>
          </a:p>
        </p:txBody>
      </p:sp>
    </p:spTree>
    <p:extLst>
      <p:ext uri="{BB962C8B-B14F-4D97-AF65-F5344CB8AC3E}">
        <p14:creationId xmlns:p14="http://schemas.microsoft.com/office/powerpoint/2010/main" val="180879771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765F8D-D0D2-4660-9BC9-F0828B810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"/>
            <a:ext cx="10744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8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7495AF-44FC-4AD3-931D-15D022328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"/>
            <a:ext cx="10744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rPr>
              <a:t>2.3　现有交互工具的能力与评价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2070B1-6A35-42D7-A4A7-374A7FE52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90575"/>
            <a:ext cx="10744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rPr>
              <a:t>2.3.1 浏览、复盘与比较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CA02DC-AAF4-4BF4-B3C8-799ACB860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80" b="0">
                <a:solidFill>
                  <a:srgbClr val="5362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80" b="0">
                <a:solidFill>
                  <a:srgbClr val="536275"/>
                </a:solidFill>
                <a:latin typeface="Hiragino Sans GB"/>
                <a:ea typeface="Hiragino Sans GB"/>
                <a:cs typeface="Hiragino Sans GB"/>
              </a:rPr>
              <a:t>[11] LU J, et al. AgentLens: Visual Analysis for Agent Behaviors in LLM-Based Autonomous Systems[J]. IEEE TVCG, 2025, 31(8): 4182–4197. [12] KHANNA R, et al. Finding AI’s Faults with AAR/AI: An Empirical Study[J]. ACM TiiS, 2022, 12(1): 1–33. [13] ARAWJO I, et al. ChainForge: A Visual Toolkit for Prompt Engineering and LLM Hypothesis Testing[C]//CHI. 2024.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ED5C4D-5533-4B00-A398-48528D546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rPr>
              <a:t>10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bd5c7304a34a59"/>
          <a:stretch xmlns:a="http://schemas.openxmlformats.org/drawingml/2006/main"/>
        </p:blipFill>
        <p:spPr>
          <a:xfrm xmlns:a="http://schemas.openxmlformats.org/drawingml/2006/main">
            <a:off x="723900" y="2364284"/>
            <a:ext cx="3362325" cy="189130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F45A32-3288-4FD4-A453-567C20BA3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57775"/>
            <a:ext cx="33623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362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38" b="0">
                <a:solidFill>
                  <a:srgbClr val="536275"/>
                </a:solidFill>
                <a:latin typeface="Hiragino Sans GB"/>
                <a:ea typeface="Hiragino Sans GB"/>
                <a:cs typeface="Hiragino Sans GB"/>
              </a:rPr>
              <a:t>AgentLens：层级轨迹与行为分析。Lu 等，作者页面图片。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1b9cc33c3643ad"/>
          <a:stretch xmlns:a="http://schemas.openxmlformats.org/drawingml/2006/main"/>
        </p:blipFill>
        <p:spPr>
          <a:xfrm xmlns:a="http://schemas.openxmlformats.org/drawingml/2006/main">
            <a:off x="4381500" y="1840876"/>
            <a:ext cx="3362325" cy="2938123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35068B-38FB-4E4C-9E43-CF3C51006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057775"/>
            <a:ext cx="33623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362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38" b="0">
                <a:solidFill>
                  <a:srgbClr val="536275"/>
                </a:solidFill>
                <a:latin typeface="Hiragino Sans GB"/>
                <a:ea typeface="Hiragino Sans GB"/>
                <a:cs typeface="Hiragino Sans GB"/>
              </a:rPr>
              <a:t>AAR/AI：预期、实际行为与原因复盘。Khanna 等，2022，Fig. 17。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9b8b0f4bf443c8"/>
          <a:stretch xmlns:a="http://schemas.openxmlformats.org/drawingml/2006/main"/>
        </p:blipFill>
        <p:spPr>
          <a:xfrm xmlns:a="http://schemas.openxmlformats.org/drawingml/2006/main">
            <a:off x="8039100" y="2443922"/>
            <a:ext cx="3362325" cy="1732032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ABFCED-0B90-4B94-9527-5533E5BF0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057775"/>
            <a:ext cx="33623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362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38" b="0">
                <a:solidFill>
                  <a:srgbClr val="536275"/>
                </a:solidFill>
                <a:latin typeface="Hiragino Sans GB"/>
                <a:ea typeface="Hiragino Sans GB"/>
                <a:cs typeface="Hiragino Sans GB"/>
              </a:rPr>
              <a:t>ChainForge：提示、模型与输出比较。Arawjo 等，2024，Fig. 1。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3BAA48-7C66-48C5-B7A2-A4D71C9F5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34050"/>
            <a:ext cx="107442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13" b="0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13" b="0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rPr>
              <a:t>研究任务分别是社会模拟行为分析、游戏故障发现与提示输出探索；效果证据不能直接等同于工具调用型智能体的原因判断。</a:t>
            </a:r>
          </a:p>
        </p:txBody>
      </p:sp>
    </p:spTree>
    <p:extLst>
      <p:ext uri="{BB962C8B-B14F-4D97-AF65-F5344CB8AC3E}">
        <p14:creationId xmlns:p14="http://schemas.microsoft.com/office/powerpoint/2010/main" val="120509870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CD7306-EF81-4649-AC28-C27B7F1BA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"/>
            <a:ext cx="10744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8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9511C9-E9D6-4661-8D8B-6305CD593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"/>
            <a:ext cx="10744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rPr>
              <a:t>2.3　现有交互工具的能力与评价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7E38D4-AC08-4A23-A2FE-90660D785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90575"/>
            <a:ext cx="10744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rPr>
              <a:t>2.3.2 轨迹组织与逐步调试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714C9F-89AF-4603-8785-49FB3B85F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80" b="0">
                <a:solidFill>
                  <a:srgbClr val="5362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80" b="0">
                <a:solidFill>
                  <a:srgbClr val="536275"/>
                </a:solidFill>
                <a:latin typeface="Hiragino Sans GB"/>
                <a:ea typeface="Hiragino Sans GB"/>
                <a:cs typeface="Hiragino Sans GB"/>
              </a:rPr>
              <a:t>[14] GAO T, et al. Graph of Trace: Visualizing Execution Traces of Scientific Agents[C]//ACL System Demonstrations. 2026: 297–306. [1] HUTTER R, PRADEL M. AgentStepper: Interactive Debugging of Software Development Agents[EB/OL]. arXiv:2602.06593, 2026.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A156D6-AFB2-4B81-B591-F3DDF0912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rPr>
              <a:t>11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b4b16e75ac4254"/>
          <a:stretch xmlns:a="http://schemas.openxmlformats.org/drawingml/2006/main"/>
        </p:blipFill>
        <p:spPr>
          <a:xfrm xmlns:a="http://schemas.openxmlformats.org/drawingml/2006/main">
            <a:off x="723900" y="2091354"/>
            <a:ext cx="5200650" cy="248479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3E830C-5877-4383-BB4B-3A51B5878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5200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362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38" b="0">
                <a:solidFill>
                  <a:srgbClr val="536275"/>
                </a:solidFill>
                <a:latin typeface="Hiragino Sans GB"/>
                <a:ea typeface="Hiragino Sans GB"/>
                <a:cs typeface="Hiragino Sans GB"/>
              </a:rPr>
              <a:t>Graph of Trace：对话、轨迹图与节点详情。Gao 等，2026，Fig. 2。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39ea54f87b49da"/>
          <a:stretch xmlns:a="http://schemas.openxmlformats.org/drawingml/2006/main"/>
        </p:blipFill>
        <p:spPr>
          <a:xfrm xmlns:a="http://schemas.openxmlformats.org/drawingml/2006/main">
            <a:off x="6267450" y="2109475"/>
            <a:ext cx="5200650" cy="2448549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406C25-4118-4B2B-A3C1-AE980C8FE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143500"/>
            <a:ext cx="5200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362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38" b="0">
                <a:solidFill>
                  <a:srgbClr val="536275"/>
                </a:solidFill>
                <a:latin typeface="Hiragino Sans GB"/>
                <a:ea typeface="Hiragino Sans GB"/>
                <a:cs typeface="Hiragino Sans GB"/>
              </a:rPr>
              <a:t>AgentStepper：运行记录、活动与代码状态联合检查。Hutter 与 Pradel，2026，Fig. 2。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002DA9-BE0F-4F7E-9C29-63F31C914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2452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rPr>
              <a:t>已有能力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239EBD-A063-41BB-A446-F9A8B2B6A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53125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2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536275"/>
                </a:solidFill>
                <a:latin typeface="Hiragino Sans GB"/>
                <a:ea typeface="Hiragino Sans GB"/>
                <a:cs typeface="Hiragino Sans GB"/>
              </a:rPr>
              <a:t>事件关联、逐步检查与原始记录访问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2B80F0-529C-4F4F-8A09-12FE5E062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72452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rPr>
              <a:t>原研究证据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B0C8AF-47D4-4ECB-B123-A23B035FE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953125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2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536275"/>
                </a:solidFill>
                <a:latin typeface="Hiragino Sans GB"/>
                <a:ea typeface="Hiragino Sans GB"/>
                <a:cs typeface="Hiragino Sans GB"/>
              </a:rPr>
              <a:t>专家反馈或特定缺陷定位任务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33A8F0-E0BB-4204-917B-C64028CEB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72452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rPr>
              <a:t>本课题关注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7879A8-65FB-4074-B25D-BF2AAB4FE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953125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2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0">
                <a:solidFill>
                  <a:srgbClr val="536275"/>
                </a:solidFill>
                <a:latin typeface="Hiragino Sans GB"/>
                <a:ea typeface="Hiragino Sans GB"/>
                <a:cs typeface="Hiragino Sans GB"/>
              </a:rPr>
              <a:t>目标情境下的原因判断与依据质量</a:t>
            </a:r>
          </a:p>
        </p:txBody>
      </p:sp>
    </p:spTree>
    <p:extLst>
      <p:ext uri="{BB962C8B-B14F-4D97-AF65-F5344CB8AC3E}">
        <p14:creationId xmlns:p14="http://schemas.microsoft.com/office/powerpoint/2010/main" val="126525435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069D67-75F9-48F6-B8DA-E907FF501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"/>
            <a:ext cx="10744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8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7D51A6-10A7-4A2F-9EEA-368710E34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"/>
            <a:ext cx="10744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rPr>
              <a:t>2.4　研究不足与本课题切入点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53B255-CACF-4F4E-9622-18023718A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90575"/>
            <a:ext cx="10744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rPr>
              <a:t>2.4.1 已有研究尚需回答的问题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4E8606-8852-4A21-9B2C-BA3E6A8E0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80" b="0">
                <a:solidFill>
                  <a:srgbClr val="5362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80" b="0">
                <a:solidFill>
                  <a:srgbClr val="536275"/>
                </a:solidFill>
                <a:latin typeface="Hiragino Sans GB"/>
                <a:ea typeface="Hiragino Sans GB"/>
                <a:cs typeface="Hiragino Sans GB"/>
              </a:rPr>
              <a:t>[1] HUTTER R, PRADEL M. AgentStepper: Interactive Debugging of Software Development Agents[EB/OL]. arXiv:2602.06593, 2026.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E93EE9-FB4F-4382-B0E9-33FB163EC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957D69-14BA-4C46-8461-EEF463EC3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19225"/>
            <a:ext cx="10744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rPr>
              <a:t>AgentStepper 在原研究的缺陷定位任务中报告改善；整体工具同时提供结构化轨迹、事件摘要和中间代码变更。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aff586d15340ed"/>
          <a:stretch xmlns:a="http://schemas.openxmlformats.org/drawingml/2006/main"/>
        </p:blipFill>
        <p:spPr>
          <a:xfrm xmlns:a="http://schemas.openxmlformats.org/drawingml/2006/main">
            <a:off x="2195790" y="2447925"/>
            <a:ext cx="7800419" cy="26479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F5AA91-B4C4-4E0E-8135-07BBCFD2A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72075"/>
            <a:ext cx="10744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362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38" b="0">
                <a:solidFill>
                  <a:srgbClr val="536275"/>
                </a:solidFill>
                <a:latin typeface="Hiragino Sans GB"/>
                <a:ea typeface="Hiragino Sans GB"/>
                <a:cs typeface="Hiragino Sans GB"/>
              </a:rPr>
              <a:t>Hutter 与 Pradel，2026，AgentStepper，Fig. 4。图中数值属于原研究参与者与任务，不是本课题结果。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031FE8-4452-48E4-80CB-47B41127E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340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rPr>
              <a:t>研究仍需回答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A4E120-55CF-455A-8116-3AC889FBD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724525"/>
            <a:ext cx="9029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13" b="0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13" b="0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rPr>
              <a:t>哪些已有能力下的判断障碍在目标场景仍持续出现？　一项具体交互改变如何影响原因判断及其证据使用？</a:t>
            </a:r>
          </a:p>
        </p:txBody>
      </p:sp>
    </p:spTree>
    <p:extLst>
      <p:ext uri="{BB962C8B-B14F-4D97-AF65-F5344CB8AC3E}">
        <p14:creationId xmlns:p14="http://schemas.microsoft.com/office/powerpoint/2010/main" val="117629838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E61CE0-1D5D-4EF5-AEB0-2BDD3C146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"/>
            <a:ext cx="10744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8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1FD25C-803B-44F4-B1BA-313D2F00F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"/>
            <a:ext cx="10744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rPr>
              <a:t>2.4　研究不足与本课题切入点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093C2D-0266-4A61-B66F-13CDC4A82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90575"/>
            <a:ext cx="10744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rPr>
              <a:t>2.4.2 区分诊断障碍，确定设计问题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09A7DD-832F-455D-A72A-5C35AEF66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80" b="0">
                <a:solidFill>
                  <a:srgbClr val="5362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80" b="0">
                <a:solidFill>
                  <a:srgbClr val="536275"/>
                </a:solidFill>
                <a:latin typeface="Hiragino Sans GB"/>
                <a:ea typeface="Hiragino Sans GB"/>
                <a:cs typeface="Hiragino Sans GB"/>
              </a:rPr>
              <a:t>[15] WU Z, et al. AgentGraph: Trace-to-Graph Platform for Interactive Analysis and Robustness Testing in Agentic AI Systems[C]//AAAI. 2026: 41721–41723.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F14C21-92BE-45E4-B96A-DEA6ED60B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8FF510-C92D-4AE0-B58D-95D41DD8C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47825"/>
            <a:ext cx="319087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CBD5E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E3B15F-682D-4054-8D0E-32845A44D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47825"/>
            <a:ext cx="31908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84C6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98FB81-30C8-4CB6-82CC-0B76F2B8A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19275"/>
            <a:ext cx="28479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rPr>
              <a:t>事实缺失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2E2EF2-3BF9-439A-A0D6-EB0A49650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09800"/>
            <a:ext cx="28479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13" b="0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13" b="0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rPr>
              <a:t>关键运行事实缺失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0F690E-B506-4BCB-8A6C-DBF169A07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05125"/>
            <a:ext cx="319087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CBD5E0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A4EF05-C60A-4CB3-B530-153E35F8D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05125"/>
            <a:ext cx="31908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84C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671E70-87C5-43D4-872A-683597CD6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76575"/>
            <a:ext cx="28479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rPr>
              <a:t>入口与关系不清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F8164F-C961-4F2C-8BAF-F174EE096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67100"/>
            <a:ext cx="28479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13" b="0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13" b="0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rPr>
              <a:t>已有记录的入口或关系不清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9A71F6-ED65-4186-A554-FB70EE87F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62425"/>
            <a:ext cx="3190875" cy="1076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CBD5E0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85C456-42A0-4A93-A4ED-A16BD391F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62425"/>
            <a:ext cx="31908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84C6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D5C56A-2EDF-4D9C-B47B-1BCA0DB68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33875"/>
            <a:ext cx="28479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rPr>
              <a:t>假设难以区分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091F96-08D1-4FFC-8A13-69BD7F209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24400"/>
            <a:ext cx="28479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13" b="0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13" b="0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rPr>
              <a:t>难以区分多个原因假设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c93802998b441a"/>
          <a:stretch xmlns:a="http://schemas.openxmlformats.org/drawingml/2006/main"/>
        </p:blipFill>
        <p:spPr>
          <a:xfrm xmlns:a="http://schemas.openxmlformats.org/drawingml/2006/main">
            <a:off x="4295775" y="2091465"/>
            <a:ext cx="7172325" cy="2608396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5326C1-1A71-4718-BA0F-3121CD07C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5219700"/>
            <a:ext cx="71723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362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38" b="0">
                <a:solidFill>
                  <a:srgbClr val="536275"/>
                </a:solidFill>
                <a:latin typeface="Hiragino Sans GB"/>
                <a:ea typeface="Hiragino Sans GB"/>
                <a:cs typeface="Hiragino Sans GB"/>
              </a:rPr>
              <a:t>Wu 等，2026，AgentGraph，Fig. 1B：关系图联到原始轨迹。该图是已有工具示例，三类障碍仍须由本研究确认。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1F0966-F2D6-441B-AB16-B50E18FCF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95950"/>
            <a:ext cx="10744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13" b="0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13" b="0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rPr>
              <a:t>选择核心困难时考察出现范围、诊断后果、材料可获得性、设计可介入性和实验可检验性。</a:t>
            </a:r>
          </a:p>
        </p:txBody>
      </p:sp>
    </p:spTree>
    <p:extLst>
      <p:ext uri="{BB962C8B-B14F-4D97-AF65-F5344CB8AC3E}">
        <p14:creationId xmlns:p14="http://schemas.microsoft.com/office/powerpoint/2010/main" val="25634227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16FC59-057A-4D59-9A00-BDD3BF339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"/>
            <a:ext cx="10744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8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75A15F-38D4-47E0-94A0-621EACF4B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"/>
            <a:ext cx="10744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rPr>
              <a:t>3　研究问题与方法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46EE2E-0128-43FF-A608-5BBC78C40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90575"/>
            <a:ext cx="10744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rPr>
              <a:t>3.1 研究问题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71FC83-3A7A-4237-8A9B-7415E61A2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4A68D1-F940-4D9A-9B5B-D61FBE436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38375"/>
            <a:ext cx="33528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CBD5E0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850CAD-F915-464E-971C-5F54CDDEC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38375"/>
            <a:ext cx="335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84C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85845B-FF43-4A0B-8CC1-F9822C287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09825"/>
            <a:ext cx="300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rPr>
              <a:t>RQ1 · 发现问题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0FDF2F-04B3-40C5-B299-EC84E2358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00350"/>
            <a:ext cx="30099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13" b="0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13" b="0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rPr>
              <a:t>现有工具下，开发者遇到哪些溯源困难？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13" b="0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13" b="0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rPr>
              <a:t>访谈与任务观察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8C2462-7D92-458C-AAC4-8D442B96E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38375"/>
            <a:ext cx="33528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CBD5E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85B0EE-AED9-483D-81E9-D76E619A2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38375"/>
            <a:ext cx="335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84C6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C3C639-51AF-425C-9D00-607F21B95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409825"/>
            <a:ext cx="300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rPr>
              <a:t>RQ2 · 提出设计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858C33-ABC7-4D92-98F5-92CFD9FA7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00350"/>
            <a:ext cx="30099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13" b="0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13" b="0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rPr>
              <a:t>怎样缓解其中一项关键困难？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13" b="0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13" b="0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rPr>
              <a:t>方案比较与原型迭代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7978A0-7CF7-4AAD-B8D7-CBAF37B13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238375"/>
            <a:ext cx="33528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CBD5E0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22BD56-ECD8-4307-BB5C-473EF1F45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238375"/>
            <a:ext cx="335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84C6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DB50F3-CD73-4452-966A-937D45AE5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09825"/>
            <a:ext cx="300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rPr>
              <a:t>RQ3 · 验证方案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2896CA-3E96-45F5-8BCE-DC2F1E179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800350"/>
            <a:ext cx="30099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13" b="0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13" b="0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rPr>
              <a:t>原因判断表现能否改善？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13" b="0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13" b="0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rPr>
              <a:t>对照评价与新案例检验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F6EC76-4E95-4148-BB48-84A9E03D6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81600"/>
            <a:ext cx="107442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5DCE3C-DE4B-48FC-8933-712F3F97A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48275"/>
            <a:ext cx="10363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rPr>
              <a:t>主要结果是有依据的原因判断；完成时间与使用体验用于解释结果。</a:t>
            </a:r>
          </a:p>
        </p:txBody>
      </p:sp>
    </p:spTree>
    <p:extLst>
      <p:ext uri="{BB962C8B-B14F-4D97-AF65-F5344CB8AC3E}">
        <p14:creationId xmlns:p14="http://schemas.microsoft.com/office/powerpoint/2010/main" val="95779222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F2684ED-73F0-4F43-A628-FF636EA4C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"/>
            <a:ext cx="10744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8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A73171-10E0-4F83-8023-3A9ACB90E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"/>
            <a:ext cx="10744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rPr>
              <a:t>3　研究问题与方法 · 研究对象与任务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A14FDB-6FEE-41A4-AEDC-2ECCA3D19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90575"/>
            <a:ext cx="10744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rPr>
              <a:t>3.2 诊断任务：案例、证据与评分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92AE74-041A-4E65-8889-A5614D933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4568F7-8570-4799-96D4-2CDFB01BE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90650"/>
            <a:ext cx="1074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rPr>
              <a:t>一次任务从失败结果开始；每个案例区分 实际故障 与 参与者可见材料 ，避免只按原因名称评分。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304861-3D16-40FE-9DD5-5D01DD2EE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66925"/>
            <a:ext cx="107442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033E0D-4928-4E69-8E25-B09B505A3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124075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rPr>
              <a:t>参与者可见的运行材料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DEAC3B-8703-4C48-B167-527933746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438400"/>
            <a:ext cx="2343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BAEC3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36E24A-B88B-474B-8A78-EAADDE4D7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466975"/>
            <a:ext cx="2152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rPr>
              <a:t>任务目标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51D7B3-352B-4FF1-9C85-FCC94ABB2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705100"/>
            <a:ext cx="2152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2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536275"/>
                </a:solidFill>
                <a:latin typeface="Hiragino Sans GB"/>
                <a:ea typeface="Hiragino Sans GB"/>
                <a:cs typeface="Hiragino Sans GB"/>
              </a:rPr>
              <a:t>汇总 2024 年资料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EAC4EC-09E1-48C0-A12C-89FC866E8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505075"/>
            <a:ext cx="238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F84C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5F84C6"/>
                </a:solidFill>
                <a:latin typeface="Hiragino Sans GB"/>
                <a:ea typeface="Hiragino Sans GB"/>
                <a:cs typeface="Hiragino Sans GB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A48CE7-B508-4311-A5D9-F0B211110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438400"/>
            <a:ext cx="2343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BAEC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0FF31A-89FE-4239-AB10-3EA81D97B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466975"/>
            <a:ext cx="2152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rPr>
              <a:t>工具参数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37F035-5BF1-4C39-9FE2-90024852A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705100"/>
            <a:ext cx="2152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2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536275"/>
                </a:solidFill>
                <a:latin typeface="Hiragino Sans GB"/>
                <a:ea typeface="Hiragino Sans GB"/>
                <a:cs typeface="Hiragino Sans GB"/>
              </a:rPr>
              <a:t>检索 year = 2023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2BE36F-9585-43BD-8548-4E504D7BE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2505075"/>
            <a:ext cx="238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F84C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5F84C6"/>
                </a:solidFill>
                <a:latin typeface="Hiragino Sans GB"/>
                <a:ea typeface="Hiragino Sans GB"/>
                <a:cs typeface="Hiragino Sans GB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D57949-CD57-48A0-871A-214B2FD1D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438400"/>
            <a:ext cx="2343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BAEC3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87E4C1-AB5E-444B-B6E6-AF898B0E5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466975"/>
            <a:ext cx="2152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rPr>
              <a:t>工具返回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10808D-2265-4348-BEF6-49EE47DCB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705100"/>
            <a:ext cx="2152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2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536275"/>
                </a:solidFill>
                <a:latin typeface="Hiragino Sans GB"/>
                <a:ea typeface="Hiragino Sans GB"/>
                <a:cs typeface="Hiragino Sans GB"/>
              </a:rPr>
              <a:t>获得 2023 年资料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203E96-EA8B-4174-A931-E2C9CD71D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505075"/>
            <a:ext cx="238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F84C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5F84C6"/>
                </a:solidFill>
                <a:latin typeface="Hiragino Sans GB"/>
                <a:ea typeface="Hiragino Sans GB"/>
                <a:cs typeface="Hiragino Sans GB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4E6881-E39A-4627-B4D0-0AF25E2CA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438400"/>
            <a:ext cx="2343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BAEC3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EC0263-E565-43C2-AD71-489B1B46A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466975"/>
            <a:ext cx="2152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rPr>
              <a:t>失败表现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0CC33D-4592-4F23-9347-B5709D915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705100"/>
            <a:ext cx="2152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2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536275"/>
                </a:solidFill>
                <a:latin typeface="Hiragino Sans GB"/>
                <a:ea typeface="Hiragino Sans GB"/>
                <a:cs typeface="Hiragino Sans GB"/>
              </a:rPr>
              <a:t>最终摘要误用旧资料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5C4EBA-C892-4D55-82F0-217F02FA3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107442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13751F-7513-449A-8841-CD1E7A812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2766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rPr>
              <a:t>研究者保存与评分的材料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45E842-2D27-479E-8A00-EB83E4617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581400"/>
            <a:ext cx="3124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BAEC3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4C4BC2-B8C3-40D9-B0FE-834ABBA8B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609975"/>
            <a:ext cx="2933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rPr>
              <a:t>实际故障记录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A37E79-9ED4-4CF5-9479-B13B30677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848100"/>
            <a:ext cx="2933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2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536275"/>
                </a:solidFill>
                <a:latin typeface="Hiragino Sans GB"/>
                <a:ea typeface="Hiragino Sans GB"/>
                <a:cs typeface="Hiragino Sans GB"/>
              </a:rPr>
              <a:t>参数年份与任务要求不一致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9B6A78D-E66E-4225-9C6A-082A9D1DA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65760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F84C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5F84C6"/>
                </a:solidFill>
                <a:latin typeface="Hiragino Sans GB"/>
                <a:ea typeface="Hiragino Sans GB"/>
                <a:cs typeface="Hiragino Sans GB"/>
              </a:rP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1227E94-B26D-4322-AD3F-69D60A950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581400"/>
            <a:ext cx="3124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BAEC3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32E0233-34EF-47FE-95DA-2F043281F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609975"/>
            <a:ext cx="2933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rPr>
              <a:t>可见证据记录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4014759-4A6D-47F3-AE11-A75448F9C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848100"/>
            <a:ext cx="2933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2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536275"/>
                </a:solidFill>
                <a:latin typeface="Hiragino Sans GB"/>
                <a:ea typeface="Hiragino Sans GB"/>
                <a:cs typeface="Hiragino Sans GB"/>
              </a:rPr>
              <a:t>参数、返回及后续使用关系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85E1B4E-A927-4530-868F-FFB6CAA8C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65760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F84C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5F84C6"/>
                </a:solidFill>
                <a:latin typeface="Hiragino Sans GB"/>
                <a:ea typeface="Hiragino Sans GB"/>
                <a:cs typeface="Hiragino Sans GB"/>
              </a:rPr>
              <a:t>→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FB93937-336D-4033-9136-4316520B7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581400"/>
            <a:ext cx="3124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BAEC3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CB6E605-2B73-401F-B427-DDC61E009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609975"/>
            <a:ext cx="2933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rPr>
              <a:t>评分手册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BE967D0-8FA6-4D2A-846B-869AF3630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848100"/>
            <a:ext cx="2933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362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75" b="0">
                <a:solidFill>
                  <a:srgbClr val="536275"/>
                </a:solidFill>
                <a:latin typeface="Hiragino Sans GB"/>
                <a:ea typeface="Hiragino Sans GB"/>
                <a:cs typeface="Hiragino Sans GB"/>
              </a:rPr>
              <a:t>允许的原因解释与诊断路径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47A2F5B-A09B-4503-A86C-F035261EE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48175"/>
            <a:ext cx="33528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CBD5E0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2D0F3BD-E988-4B1A-A733-C6ECC4311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48175"/>
            <a:ext cx="335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84C6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50C6D3D-8CF0-48CB-86C9-7FE6F1B48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19625"/>
            <a:ext cx="300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rPr>
              <a:t>原因判断正确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B9A3BFB-7CCB-46FB-AF6A-36EF970A2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10150"/>
            <a:ext cx="3009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13" b="0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13" b="0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rPr>
              <a:t>指出相关步骤与失败之间的联系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E83C89C-F785-4216-B8D1-9F6857C6D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448175"/>
            <a:ext cx="33528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CBD5E0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E232DD4-DC0D-4838-A725-EFB6B6C51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448175"/>
            <a:ext cx="335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84C6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7B346A2-05DF-42AD-B73C-9572E2FE0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619625"/>
            <a:ext cx="300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rPr>
              <a:t>运行依据准确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6C9C6CA-E85F-4366-9A61-F9B562B33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010150"/>
            <a:ext cx="3009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13" b="0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13" b="0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rPr>
              <a:t>引用的事件能支持关键判断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7BB660B-143A-41CE-A0B9-C714C14D9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448175"/>
            <a:ext cx="33528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CBD5E0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DEC0E5F-1279-457B-A66B-6C742BD88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448175"/>
            <a:ext cx="3352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84C6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6295496-AF0C-4FFF-9CBF-17C194220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619625"/>
            <a:ext cx="300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rPr>
              <a:t>主要结果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DFB494A-BF29-4AD9-9149-9EBFB90C0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010150"/>
            <a:ext cx="3009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13" b="0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13" b="0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rPr>
              <a:t>有依据的原因判断达成率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CB75E9B-064A-47B6-9F34-2229C8875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00725"/>
            <a:ext cx="10744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88" b="0">
                <a:solidFill>
                  <a:srgbClr val="5362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88" b="0">
                <a:solidFill>
                  <a:srgbClr val="536275"/>
                </a:solidFill>
                <a:latin typeface="Hiragino Sans GB"/>
                <a:ea typeface="Hiragino Sans GB"/>
                <a:cs typeface="Hiragino Sans GB"/>
              </a:rPr>
              <a:t>上图为教学示意，2024／2023 的年份差异不是正式实验案例；正式案例须经专家核查和预实验。</a:t>
            </a:r>
          </a:p>
        </p:txBody>
      </p:sp>
    </p:spTree>
    <p:extLst>
      <p:ext uri="{BB962C8B-B14F-4D97-AF65-F5344CB8AC3E}">
        <p14:creationId xmlns:p14="http://schemas.microsoft.com/office/powerpoint/2010/main" val="198607475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C15C001-31E8-4C10-9F15-8A8A5AB3C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"/>
            <a:ext cx="10744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8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B8657D-06C5-46EE-9A0D-073995518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"/>
            <a:ext cx="10744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rPr>
              <a:t>3　研究问题与方法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6C0987-0587-4F60-97E0-BE081C5C4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90575"/>
            <a:ext cx="10744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rPr>
              <a:t>3.3 理论基础：信息觅食与意义建构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EE989E-18C4-436F-887F-4952203C2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80" b="0">
                <a:solidFill>
                  <a:srgbClr val="5362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80" b="0">
                <a:solidFill>
                  <a:srgbClr val="536275"/>
                </a:solidFill>
                <a:latin typeface="Hiragino Sans GB"/>
                <a:ea typeface="Hiragino Sans GB"/>
                <a:cs typeface="Hiragino Sans GB"/>
              </a:rPr>
              <a:t>[10] LAWRANCE J, et al. How Programmers Debug, Revisited: An Information Foraging Theory Perspective[J]. IEEE TSE, 2013, 39(2): 197–215. [16] PIROLLI P, CARD S K. The Sensemaking Process and Leverage Points for Analyst Technology as Identified Through Cognitive Task Analysis[C]//International Conference on Intelligence Analysis. 2005. [17] KLEIN G, MOON B, HOFFMAN R R. Making Sense of Sensemaking 2: A Macrocognitive Model[J]. IEEE Intelligent Systems, 2006, 21(5): 88–92.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D15055-42F5-4143-81D6-6B4284D99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rPr>
              <a:t>16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131ba9ec3940e6"/>
          <a:stretch xmlns:a="http://schemas.openxmlformats.org/drawingml/2006/main"/>
        </p:blipFill>
        <p:spPr>
          <a:xfrm xmlns:a="http://schemas.openxmlformats.org/drawingml/2006/main">
            <a:off x="1543050" y="1590675"/>
            <a:ext cx="3562350" cy="22669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B3FA02-0123-4260-B298-F979715A9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24300"/>
            <a:ext cx="5200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362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38" b="0">
                <a:solidFill>
                  <a:srgbClr val="536275"/>
                </a:solidFill>
                <a:latin typeface="Hiragino Sans GB"/>
                <a:ea typeface="Hiragino Sans GB"/>
                <a:cs typeface="Hiragino Sans GB"/>
              </a:rPr>
              <a:t>找到线索： 从异常输出发问并进入执行记录。Whyline，Fig. 1。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05c7bb6cbe4be5"/>
          <a:stretch xmlns:a="http://schemas.openxmlformats.org/drawingml/2006/main"/>
        </p:blipFill>
        <p:spPr>
          <a:xfrm xmlns:a="http://schemas.openxmlformats.org/drawingml/2006/main">
            <a:off x="6267450" y="1778477"/>
            <a:ext cx="5200650" cy="1891347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C3F511-ED85-43FD-95F1-960D7C201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5200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5362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38" b="0">
                <a:solidFill>
                  <a:srgbClr val="536275"/>
                </a:solidFill>
                <a:latin typeface="Hiragino Sans GB"/>
                <a:ea typeface="Hiragino Sans GB"/>
                <a:cs typeface="Hiragino Sans GB"/>
              </a:rPr>
              <a:t>组织材料： 沿事件关系回到原始轨迹。AgentGraph，Fig. 1B；界面示例并非理论模型原图。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E48813-5BC7-4BFC-9E82-B7BC46B3B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00575"/>
            <a:ext cx="23431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CBD5E0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5A7748-D9FC-4122-BBA5-5091631A4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00575"/>
            <a:ext cx="2343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84C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90C589-6871-4B28-BBFE-E19D13E0B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72025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rPr>
              <a:t>失败症状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650B50-3533-4A9C-A79F-53C4A6802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625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13" b="0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13" b="0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rPr>
              <a:t>提出当前问题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7610A7-B534-4C5F-974C-7C87E152B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4924425"/>
            <a:ext cx="295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F84C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5F84C6"/>
                </a:solidFill>
                <a:latin typeface="Hiragino Sans GB"/>
                <a:ea typeface="Hiragino Sans GB"/>
                <a:cs typeface="Hiragino Sans GB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BAB035-41A5-41C3-80AA-D7606A0C1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4600575"/>
            <a:ext cx="23431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CBD5E0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1134B2-D87E-4D65-8205-04076573D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4600575"/>
            <a:ext cx="2343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84C6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A12DDF-3F99-428A-85CB-81F036C04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772025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rPr>
              <a:t>线索与材料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4794ED-48E6-4F92-A3D8-A6EF4075E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51625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13" b="0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13" b="0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rPr>
              <a:t>入口、价值、访问成本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6F4056-807F-48DE-9185-90B179C28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924425"/>
            <a:ext cx="295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F84C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5F84C6"/>
                </a:solidFill>
                <a:latin typeface="Hiragino Sans GB"/>
                <a:ea typeface="Hiragino Sans GB"/>
                <a:cs typeface="Hiragino Sans GB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A8F9FD-32CF-4394-99E9-D2B480999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00575"/>
            <a:ext cx="23431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CBD5E0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479D1F-B38C-4A92-9E9A-989FD8870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00575"/>
            <a:ext cx="2343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84C6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666C38-C410-48C6-9BCA-2C3F021AF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772025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rPr>
              <a:t>原因假设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780AC4-B8A9-4AFF-B55F-187D5DBE8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1625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13" b="0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13" b="0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rPr>
              <a:t>关联和比较证据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46201A-D63E-4405-9CCA-13C5FFDF0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4924425"/>
            <a:ext cx="295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F84C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5F84C6"/>
                </a:solidFill>
                <a:latin typeface="Hiragino Sans GB"/>
                <a:ea typeface="Hiragino Sans GB"/>
                <a:cs typeface="Hiragino Sans GB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4566A0-0A0E-417D-9D69-EF18D3DFB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4600575"/>
            <a:ext cx="23431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CBD5E0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7E471A-7CB4-4AD9-A2FD-E1C1D93D3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4600575"/>
            <a:ext cx="2343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84C6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F1B6E0-A1F9-4FAA-9645-1020850BA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772025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rPr>
              <a:t>核验与修订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5733D71-0353-4BC2-825A-80E0C7457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51625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13" b="0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13" b="0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rPr>
              <a:t>判断如何随材料改变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B45F02F-0CE3-48AA-AEA8-D1C1A937D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81675"/>
            <a:ext cx="10744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63" b="0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63" b="0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rPr>
              <a:t>访谈与观察中编码材料访问、搜索线索、原因假设、检查行动和判断变化；开放编码保留理论未解释的资料。</a:t>
            </a:r>
          </a:p>
        </p:txBody>
      </p:sp>
    </p:spTree>
    <p:extLst>
      <p:ext uri="{BB962C8B-B14F-4D97-AF65-F5344CB8AC3E}">
        <p14:creationId xmlns:p14="http://schemas.microsoft.com/office/powerpoint/2010/main" val="97901545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B205204-59CE-4C10-9EB8-CBD4A9400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"/>
            <a:ext cx="10744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8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8C8903-CADC-4181-AAE7-DC6F67872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"/>
            <a:ext cx="10744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rPr>
              <a:t>3　研究问题与方法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92EDB1-5CC3-4F44-B77F-596989037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90575"/>
            <a:ext cx="10744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rPr>
              <a:t>3.4 研究方法总览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C93135-A186-4A6A-B006-64ACD1907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80" b="0">
                <a:solidFill>
                  <a:srgbClr val="53627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780" b="0">
                <a:solidFill>
                  <a:srgbClr val="536275"/>
                </a:solidFill>
                <a:latin typeface="Hiragino Sans GB"/>
                <a:ea typeface="Hiragino Sans GB"/>
                <a:cs typeface="Hiragino Sans GB"/>
              </a:rPr>
              <a:t>[18] GALE N K, et al. Using the Framework Method for the Analysis of Qualitative Data in Multi-Disciplinary Health Research[J]. BMC Medical Research Methodology, 2013, 13: 117. [19] MALTERUD K, et al. Sample Size in Qualitative Interview Studies: Guided by Information Power[J]. Qualitative Health Research, 2016, 26(13): 1753–1760.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194AF4-F219-49E7-821A-F0D9BED0D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D9FA92-F561-48D8-BADA-E42878019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107442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CBBF73-0089-4731-B13A-8ED265B5A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6383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rPr>
              <a:t>阶段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22EB78-B620-432D-A45E-445F131A7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638300"/>
            <a:ext cx="5476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rPr>
              <a:t>研究安排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CD7061-BA3D-4CDF-A0FC-25C0E157A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16383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rPr>
              <a:t>主要产出或判断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AD3900-DF19-4741-92B4-8118EF2D6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1074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2D9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53AF74-E6C2-4CF2-85BE-C141092F4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114550"/>
            <a:ext cx="1714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rPr>
              <a:t>形成性研究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A34427-AF2B-4926-951F-806A65EFA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114550"/>
            <a:ext cx="52863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52" b="0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52" b="0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rPr>
              <a:t>访谈与观察 12–16 名开发者；关键事件回溯、统一溯源任务与框架法分析。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010771-21F3-4D19-8368-EDF213501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114550"/>
            <a:ext cx="29527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52" b="0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52" b="0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rPr>
              <a:t>困难、现用工具和信息条件矩阵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196FCE-A83D-4D5A-A30B-4A821DA15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62350"/>
            <a:ext cx="1074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2D9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5CC695-F691-4761-9DEE-5B53094C7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895600"/>
            <a:ext cx="1714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rPr>
              <a:t>案例构建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CDD03F-E8A4-43E4-8ED6-DF1ADC18C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895600"/>
            <a:ext cx="52863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52" b="0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52" b="0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rPr>
              <a:t>12–16 个候选案例，经专家核查和预实验形成约 12 个正式案例。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D6F119-9C1D-44A9-BA83-7E0D6B384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895600"/>
            <a:ext cx="29527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52" b="0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52" b="0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rPr>
              <a:t>实际故障、可见证据与评分手册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E50DDF-11A9-4560-BED7-1C8032AB8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43400"/>
            <a:ext cx="1074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2D9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69E2CB-9B13-4E00-80CD-84735D7BF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676650"/>
            <a:ext cx="1714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rPr>
              <a:t>原型设计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10BCF9-CE61-430C-8B26-556C52C32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676650"/>
            <a:ext cx="52863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52" b="0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52" b="0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rPr>
              <a:t>比较两种方案；两轮任务式走查共 6–8 人，冻结研究原型。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5951EE-A3C6-43F1-AFA2-2BA6887C0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676650"/>
            <a:ext cx="29527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52" b="0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52" b="0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rPr>
              <a:t>设计主张和可比较的界面差异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A747E1-7D05-4621-83B0-66A7A2A8C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24450"/>
            <a:ext cx="1074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2D9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CEC2C0-4524-49C7-A06D-F36E8C577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457700"/>
            <a:ext cx="1714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rPr>
              <a:t>对照实验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E278ED-6473-40F1-9F5D-C57D4C3EA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457700"/>
            <a:ext cx="52863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52" b="0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52" b="0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rPr>
              <a:t>被试内比较基础界面与研究界面；每人初步完成 6 个案例。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92E293-508B-49AD-B444-1A0CB88D8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4457700"/>
            <a:ext cx="29527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52" b="0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52" b="0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rPr>
              <a:t>原因判断达成率、时间和体验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C0AAEB-016D-47AB-A94E-EEE61F62A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0"/>
            <a:ext cx="1074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2D9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E428599-5B1B-4151-878B-021EC27E9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238750"/>
            <a:ext cx="1714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rPr>
              <a:t>迁移与质量控制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5B08A3F-F33A-4FAE-BFF4-BFB97F5CE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238750"/>
            <a:ext cx="52863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52" b="0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52" b="0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rPr>
              <a:t>3–4 个新案例补充走查；盲评、预注册和固定版本。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95A913B-8B87-4277-A0DF-642B955D4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5238750"/>
            <a:ext cx="29527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52" b="0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52" b="0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rPr>
              <a:t>设计原则、实施条件和适用边界</a:t>
            </a:r>
          </a:p>
        </p:txBody>
      </p:sp>
    </p:spTree>
    <p:extLst>
      <p:ext uri="{BB962C8B-B14F-4D97-AF65-F5344CB8AC3E}">
        <p14:creationId xmlns:p14="http://schemas.microsoft.com/office/powerpoint/2010/main" val="210752445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A30B9ED-9660-489C-9ECE-8EB78F398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"/>
            <a:ext cx="10744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8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D5A389-D411-4AAC-B328-00F36ACE4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"/>
            <a:ext cx="10744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rPr>
              <a:t>4　研究框架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AB9D9E-05EA-425F-A2A0-C897F82B6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90575"/>
            <a:ext cx="10744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rPr>
              <a:t>4 研究框架：从困难识别到效果验证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FF8493-78F1-462B-BB86-7E485DACF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EEFA85-3C0A-441C-A3B5-498FBBBB8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71625"/>
            <a:ext cx="107442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84C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C09CE3-F204-4AE6-97A5-A4ABEEEE1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1600200"/>
            <a:ext cx="10401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RQ1　发现问题：形成性研究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4AD76F-75D1-4917-A5FB-3ED2402B6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019300"/>
            <a:ext cx="31051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CBD5E0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1F58DA-BF3E-4EB4-B234-598B69733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019300"/>
            <a:ext cx="3105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84C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46ED28-4D19-49B3-A600-E374C0143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19075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rPr>
              <a:t>关键事件访谈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814A68-C5FF-4629-849C-CE79403FB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581275"/>
            <a:ext cx="27622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13" b="0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13" b="0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rPr>
              <a:t>收集真实排错经历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926C7F-0E5B-4A47-A615-EFC646DD6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2764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F84C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5F84C6"/>
                </a:solidFill>
                <a:latin typeface="Hiragino Sans GB"/>
                <a:ea typeface="Hiragino Sans GB"/>
                <a:cs typeface="Hiragino Sans GB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BC52A4-A9AE-498D-AFBC-5BD841C80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019300"/>
            <a:ext cx="31051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CBD5E0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04F3C6-0EED-427B-9587-071FCAA9C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019300"/>
            <a:ext cx="3105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84C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E3EF47-61DF-495C-A4C7-69B059EF0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19075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rPr>
              <a:t>统一任务观察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FE6EBD-C077-4AA8-BE1B-51DE47AFD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581275"/>
            <a:ext cx="27622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13" b="0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13" b="0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rPr>
              <a:t>记录查找与判断行为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423F37-9F29-407D-9917-58CD9C0FB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2764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F84C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5F84C6"/>
                </a:solidFill>
                <a:latin typeface="Hiragino Sans GB"/>
                <a:ea typeface="Hiragino Sans GB"/>
                <a:cs typeface="Hiragino Sans GB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38DD34-F524-463C-93D1-DC5E50988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019300"/>
            <a:ext cx="31051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CBD5E0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E64BFD-02BF-49D3-8A9B-A56A59437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019300"/>
            <a:ext cx="3105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84C6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FF8CB2-9A6D-40D6-9D3B-00E532C9B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19075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rPr>
              <a:t>困难与信息条件矩阵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F21598-3395-46DF-A157-82FFBEEF3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581275"/>
            <a:ext cx="27622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13" b="0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13" b="0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rPr>
              <a:t>确定一项关键困难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1C329A-42FC-4C01-A090-F7DE19EF5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8003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rPr>
              <a:t>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DA06E0-E905-49F9-A157-D93A376F5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38475"/>
            <a:ext cx="107442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84C6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ADD9CF-50E4-4562-9EA7-49D3B012F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067050"/>
            <a:ext cx="10401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RQ2　提出设计：围绕关键困难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94D154-2110-4BF1-98F5-C2CA04D9B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486150"/>
            <a:ext cx="31051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CBD5E0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5B1F5A-2B60-4E6C-AAD5-B9BD94D18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486150"/>
            <a:ext cx="3105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84C6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11822F-7F18-4331-A492-CBB0B543F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65760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rPr>
              <a:t>提出备选方案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7CBD49-16C7-4C59-A409-E80C236F5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048125"/>
            <a:ext cx="27622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13" b="0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13" b="0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rPr>
              <a:t>比较不同信息组织方式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9280BA-88B5-4EA6-9ACA-9A6F9967F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74332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F84C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5F84C6"/>
                </a:solidFill>
                <a:latin typeface="Hiragino Sans GB"/>
                <a:ea typeface="Hiragino Sans GB"/>
                <a:cs typeface="Hiragino Sans GB"/>
              </a:rP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F06E5F-2D52-4484-B22B-035A92E32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486150"/>
            <a:ext cx="31051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CBD5E0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04FF178-9729-4BF9-9577-9EAD2ABDF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486150"/>
            <a:ext cx="3105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84C6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E7E5CFE-003A-433B-8824-9E6BDD2D8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65760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rPr>
              <a:t>两轮任务式走查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0FBD51C-BE3A-4B09-8EDF-FD1EF914E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048125"/>
            <a:ext cx="27622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13" b="0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13" b="0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rPr>
              <a:t>收集理解与操作反馈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7A4C10D-7D4C-4AB0-8436-00DC12E85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74332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F84C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5F84C6"/>
                </a:solidFill>
                <a:latin typeface="Hiragino Sans GB"/>
                <a:ea typeface="Hiragino Sans GB"/>
                <a:cs typeface="Hiragino Sans GB"/>
              </a:rPr>
              <a:t>→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1142B88-D5C6-4AD5-9DDB-EC1F895FB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486150"/>
            <a:ext cx="31051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CBD5E0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7163D1B-CB59-4F7F-B9BC-EA3224D34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486150"/>
            <a:ext cx="3105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84C6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149F430-158F-4C50-A84E-C632229C7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365760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rPr>
              <a:t>核心设计主张与原型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290F24F-D034-4A00-B4DF-33DDE00EA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4048125"/>
            <a:ext cx="27622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13" b="0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13" b="0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rPr>
              <a:t>冻结可比较界面版本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C4F744A-2D86-48BD-B5CF-AD5B48A22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2672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rPr>
              <a:t>↓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B33D6BA-B9E8-416C-B264-20E35E944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05325"/>
            <a:ext cx="107442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84C6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45BFD8F-0BF6-47A3-8E12-72921327A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533900"/>
            <a:ext cx="10401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RQ3　验证方案：判断效果与适用边界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DB6EBF6-099D-4991-BE13-B8AD19443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953000"/>
            <a:ext cx="31051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CBD5E0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B3CAABA-E638-4C29-898A-8F92FA950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953000"/>
            <a:ext cx="3105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84C6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76077F6-9F87-4AFA-B7D1-58BDD6007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512445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rPr>
              <a:t>可复现案例与评分手册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893EFAA-B159-4F6F-B168-F7441EAF6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5514975"/>
            <a:ext cx="27622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13" b="0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13" b="0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rPr>
              <a:t>区分故障与可见证据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F962F37-5EF0-46FB-ADCB-4FEEB3AD6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2101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F84C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5F84C6"/>
                </a:solidFill>
                <a:latin typeface="Hiragino Sans GB"/>
                <a:ea typeface="Hiragino Sans GB"/>
                <a:cs typeface="Hiragino Sans GB"/>
              </a:rPr>
              <a:t>→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EF25ED0-AC60-4212-B5F8-B58624783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953000"/>
            <a:ext cx="31051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CBD5E0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FCD904F-2178-4A6A-911D-7909CD5A1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953000"/>
            <a:ext cx="3105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84C6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E801AE8-0AF6-43DD-AAF4-FBFBD0DDC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512445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rPr>
              <a:t>基础界面与研究界面对照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1A20489-E613-4F30-96D1-65D71D0F4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5514975"/>
            <a:ext cx="27622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13" b="0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13" b="0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rPr>
              <a:t>测量有依据的原因判断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5C8CAC3-C713-4A1B-B56E-4ED18CF17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521017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F84C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5F84C6"/>
                </a:solidFill>
                <a:latin typeface="Hiragino Sans GB"/>
                <a:ea typeface="Hiragino Sans GB"/>
                <a:cs typeface="Hiragino Sans GB"/>
              </a:rPr>
              <a:t>→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1BBEC47-B4C5-4049-B081-AF7DF3497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4953000"/>
            <a:ext cx="310515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CBD5E0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EE96FAB-D0C3-4CF4-8E52-99855871C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4953000"/>
            <a:ext cx="3105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84C6"/>
          </a:solidFill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7FE950F-4C7B-46DE-9C77-04E5E231C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512445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rPr>
              <a:t>新案例检验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C862294-9C64-450A-B543-FE3FEE6E5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5514975"/>
            <a:ext cx="27622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13" b="0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13" b="0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rPr>
              <a:t>整理设计原则与边界</a:t>
            </a:r>
          </a:p>
        </p:txBody>
      </p:sp>
    </p:spTree>
    <p:extLst>
      <p:ext uri="{BB962C8B-B14F-4D97-AF65-F5344CB8AC3E}">
        <p14:creationId xmlns:p14="http://schemas.microsoft.com/office/powerpoint/2010/main" val="126279042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067915C7-9EEC-4B37-B661-AA1AD0ED3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"/>
            <a:ext cx="10744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8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C8CAC2-835A-412C-A632-14CF47451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"/>
            <a:ext cx="10744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rPr>
              <a:t>5　计划进度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B05C75-48E3-4BDE-B4A2-B08B6A436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90575"/>
            <a:ext cx="10744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rPr>
              <a:t>5 研究计划：2026.09—2028.05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BA0857-9FF1-4280-B334-5DC69577F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531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EA05EB-8555-4478-BE16-D8E33616A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38300"/>
            <a:ext cx="276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rPr>
              <a:t>研究工作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32E7BA-D477-4429-9AE1-26AC17248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571625"/>
            <a:ext cx="1102179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B"/>
          </a:solidFill>
          <a:ln xmlns:a="http://schemas.openxmlformats.org/drawingml/2006/main" w="9525">
            <a:solidFill>
              <a:srgbClr val="CBD2D9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E4F711-BFFC-4A0F-9AE2-EA793391D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657350"/>
            <a:ext cx="987879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rPr>
              <a:t>2026.09—12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F19B7D-3B9E-418B-93D1-7CFC6F1AD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5029" y="1571625"/>
            <a:ext cx="1102179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2D9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3CB611-37E9-4C77-ACC4-AF8B5DB13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2179" y="1657350"/>
            <a:ext cx="987879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rPr>
              <a:t>2027.01—03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9DF44D-B85C-4D3B-AF3F-DB9675ADA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7207" y="1571625"/>
            <a:ext cx="1102179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B"/>
          </a:solidFill>
          <a:ln xmlns:a="http://schemas.openxmlformats.org/drawingml/2006/main" w="9525">
            <a:solidFill>
              <a:srgbClr val="CBD2D9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C03060-BA65-493E-8CFE-FBE41A630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4357" y="1657350"/>
            <a:ext cx="987879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rPr>
              <a:t>2027.04—06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2E5F62-175A-48CD-884F-92A8F36A6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9386" y="1571625"/>
            <a:ext cx="1102179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2D9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7C94B1-17E9-4647-9E31-81FD47C46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6536" y="1657350"/>
            <a:ext cx="987879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rPr>
              <a:t>2027.07—09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D481CC-DF2F-4E73-8F1C-730558583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1564" y="1571625"/>
            <a:ext cx="1102179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B"/>
          </a:solidFill>
          <a:ln xmlns:a="http://schemas.openxmlformats.org/drawingml/2006/main" w="9525">
            <a:solidFill>
              <a:srgbClr val="CBD2D9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B0E59F-5E45-49BF-A335-C8067F78D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8714" y="1657350"/>
            <a:ext cx="987879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rPr>
              <a:t>2027.10—12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3FF994-43AF-40A1-A703-BB06CBC8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3743" y="1571625"/>
            <a:ext cx="1102179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2D9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F5614C-DA65-451B-AB6B-5C405FCD5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0893" y="1657350"/>
            <a:ext cx="987879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rPr>
              <a:t>2028.01—03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E7BEED-0A5D-48EE-B624-C8B1B9F5A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5921" y="1571625"/>
            <a:ext cx="1102179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B"/>
          </a:solidFill>
          <a:ln xmlns:a="http://schemas.openxmlformats.org/drawingml/2006/main" w="9525">
            <a:solidFill>
              <a:srgbClr val="CBD2D9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74D5E7-4807-4194-BED8-9698065FA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3071" y="1657350"/>
            <a:ext cx="987879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315C8C"/>
                </a:solidFill>
                <a:latin typeface="Hiragino Sans GB"/>
                <a:ea typeface="Hiragino Sans GB"/>
                <a:cs typeface="Hiragino Sans GB"/>
              </a:rPr>
              <a:t>2028.04—05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99F0A1-93A7-4EBE-B13E-8485DC44C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24075"/>
            <a:ext cx="2895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rPr>
              <a:t>研究协议、伦理与初步案例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3E051E-58DA-4D2C-9C16-8A66A8086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095500"/>
            <a:ext cx="1102179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CBD2D9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A3921F-CA80-46EC-A53F-E39136AC0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5029" y="2095500"/>
            <a:ext cx="1102179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CBD2D9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3E9710-FE22-45D7-91AF-B62FE8338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7207" y="2095500"/>
            <a:ext cx="1102179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CBD2D9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C9D351-B935-4D0F-AD2C-6E914713D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9386" y="2095500"/>
            <a:ext cx="1102179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CBD2D9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891D43-EA9C-438D-976D-452ADFCC6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1564" y="2095500"/>
            <a:ext cx="1102179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CBD2D9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212610-78CC-4236-B972-0A0E21E09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3743" y="2095500"/>
            <a:ext cx="1102179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CBD2D9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A3BEE9-0923-403C-A399-C233C99B0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5921" y="2095500"/>
            <a:ext cx="1102179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CBD2D9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E3FD6B-8A18-439D-A859-705161305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238375"/>
            <a:ext cx="949779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84C6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E9BDCAA-CFD6-49C9-A880-0FF9E0FC6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52700"/>
            <a:ext cx="2895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rPr>
              <a:t>访谈与任务观察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E562647-CDE5-4B66-9176-1F50060AD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524125"/>
            <a:ext cx="1102179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CBD2D9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AFE5788-8589-4269-BB86-AB4A40411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5029" y="2524125"/>
            <a:ext cx="1102179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CBD2D9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38E3B51-99AE-4C0E-89FC-FE9B4D3C6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7207" y="2524125"/>
            <a:ext cx="1102179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CBD2D9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1E4A676-C869-43B1-843F-641588C8F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9386" y="2524125"/>
            <a:ext cx="1102179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CBD2D9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2C6A512-B224-4240-AD6B-EF9BABD8F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1564" y="2524125"/>
            <a:ext cx="1102179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CBD2D9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4619687-4156-4222-BA56-8666F85E7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3743" y="2524125"/>
            <a:ext cx="1102179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CBD2D9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C09BFEF-2D22-4638-8C81-F462F1A47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5921" y="2524125"/>
            <a:ext cx="1102179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CBD2D9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96DADCF-A747-4476-BBFF-6D00A70C4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667000"/>
            <a:ext cx="2051957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84C6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769F0A1-6AF1-40AA-9981-C16EA5490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81325"/>
            <a:ext cx="2895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rPr>
              <a:t>案例定稿与评分手册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D2A2D37-9E54-481B-9DD3-1F546B209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952750"/>
            <a:ext cx="1102179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CBD2D9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26543E6-7A0E-4792-BC12-24182A47B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5029" y="2952750"/>
            <a:ext cx="1102179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CBD2D9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65AABBC-3881-4522-B181-92720A015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7207" y="2952750"/>
            <a:ext cx="1102179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CBD2D9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4C5612C-A99A-428A-BF79-CD81B464D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9386" y="2952750"/>
            <a:ext cx="1102179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CBD2D9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62C5993-9050-4A3D-B24B-9B59EFA80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1564" y="2952750"/>
            <a:ext cx="1102179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CBD2D9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B1CBD93-9351-4566-9C15-B6DEA77E4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3743" y="2952750"/>
            <a:ext cx="1102179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CBD2D9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A679CA7-CA81-4938-82D2-31958924B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5921" y="2952750"/>
            <a:ext cx="1102179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CBD2D9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722F3BB-6789-492E-A9B2-D5BB374EF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1229" y="3095625"/>
            <a:ext cx="2051957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84C6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69691CD-EC7E-4FAC-AEE1-1D1796BA7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09950"/>
            <a:ext cx="2895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rPr>
              <a:t>备选方案比较与原型走查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DC9D4CF-30FD-4814-9CDD-52B373DB4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381375"/>
            <a:ext cx="1102179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CBD2D9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690D41F-B7F7-4F9D-BF2B-9BC08A488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5029" y="3381375"/>
            <a:ext cx="1102179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CBD2D9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8E09494-EE0F-4BC9-9722-C36777CE0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7207" y="3381375"/>
            <a:ext cx="1102179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CBD2D9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1A61A15-BFD1-4B05-953B-A439D9527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9386" y="3381375"/>
            <a:ext cx="1102179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CBD2D9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56102D8-A260-4B44-9A6A-61FA17593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1564" y="3381375"/>
            <a:ext cx="1102179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CBD2D9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53C456D-F455-4A63-8D02-22628AF7B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3743" y="3381375"/>
            <a:ext cx="1102179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CBD2D9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2A73185-D988-4994-88CE-0C980B812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5921" y="3381375"/>
            <a:ext cx="1102179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CBD2D9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F7409E4-F236-4DAD-838F-FA2788D06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3407" y="3524250"/>
            <a:ext cx="2051957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84C6"/>
          </a:solidFill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254636F-559C-4253-9E49-64D0B6363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38575"/>
            <a:ext cx="2895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rPr>
              <a:t>原型冻结与实验预注册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3D022D1-5F02-4EE5-A226-B8E168706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810000"/>
            <a:ext cx="1102179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CBD2D9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59E10B2-69CA-4BBF-9D88-9F049639B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5029" y="3810000"/>
            <a:ext cx="1102179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CBD2D9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02EC458-1A56-42FC-804F-B26C824A9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7207" y="3810000"/>
            <a:ext cx="1102179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CBD2D9"/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E1CF953-C86C-4E5C-9A85-70772792D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9386" y="3810000"/>
            <a:ext cx="1102179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CBD2D9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DD88837-D8A3-4BDB-87F5-F3C5DB705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1564" y="3810000"/>
            <a:ext cx="1102179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CBD2D9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8E2D743-7DAC-408D-BA25-E1014DCC2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3743" y="3810000"/>
            <a:ext cx="1102179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CBD2D9"/>
            </a:solidFill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F0A5E41-F688-4F90-B2F2-59859563A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5921" y="3810000"/>
            <a:ext cx="1102179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CBD2D9"/>
            </a:solidFill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69566C6-8EF3-4979-82E2-5BF2EF980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5586" y="3952875"/>
            <a:ext cx="2051957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8C"/>
          </a:solidFill>
          <a:ln xmlns:a="http://schemas.openxmlformats.org/drawingml/2006/main" w="0">
            <a:noFill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AD70EBC-4A20-45BF-84F4-48D7442D5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67200"/>
            <a:ext cx="2895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rPr>
              <a:t>对照实验与数据分析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5833D75-DDF1-4FDA-B72D-A385CF60C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238625"/>
            <a:ext cx="1102179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CBD2D9"/>
            </a:solidFill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CA1B484-D292-40FA-969F-5F1B36822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5029" y="4238625"/>
            <a:ext cx="1102179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CBD2D9"/>
            </a:solidFill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474728E-A193-43A9-97D4-4F0C7A3AA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7207" y="4238625"/>
            <a:ext cx="1102179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CBD2D9"/>
            </a:solidFill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BB0BBCD-2ADC-4388-A7A2-461D5B693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9386" y="4238625"/>
            <a:ext cx="1102179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CBD2D9"/>
            </a:solidFill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8978511-55CD-48E2-A2EF-7AB8CF8A8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1564" y="4238625"/>
            <a:ext cx="1102179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CBD2D9"/>
            </a:solidFill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BF4B270-D48B-42E2-8ED9-4B79F925F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3743" y="4238625"/>
            <a:ext cx="1102179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CBD2D9"/>
            </a:solidFill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204D1B7-6E90-4EC2-814B-F38E8430C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5921" y="4238625"/>
            <a:ext cx="1102179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CBD2D9"/>
            </a:solidFill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86EDEB2-DC8C-4EB0-9400-4F36AD1C7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764" y="4381500"/>
            <a:ext cx="2051957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84C6"/>
          </a:solidFill>
          <a:ln xmlns:a="http://schemas.openxmlformats.org/drawingml/2006/main" w="0">
            <a:noFill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F651894-9BA9-4E5A-9AC1-464AF5188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95825"/>
            <a:ext cx="2895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rPr>
              <a:t>新案例迁移检验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8C42EC8-8B46-465C-9B9C-2472FB728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667250"/>
            <a:ext cx="1102179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CBD2D9"/>
            </a:solidFill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027B4097-DED9-4B39-9CB1-78B97B7DF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5029" y="4667250"/>
            <a:ext cx="1102179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CBD2D9"/>
            </a:solidFill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CB52E96F-AE40-4172-9C58-1F45B4843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7207" y="4667250"/>
            <a:ext cx="1102179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CBD2D9"/>
            </a:solidFill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4302832-99B9-4D1B-A326-459E22021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9386" y="4667250"/>
            <a:ext cx="1102179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CBD2D9"/>
            </a:solidFill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28B5C76A-9D20-4946-8456-F5C0DDA35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1564" y="4667250"/>
            <a:ext cx="1102179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CBD2D9"/>
            </a:solidFill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AF1B56AA-D63F-48D7-93A5-EA922AA24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3743" y="4667250"/>
            <a:ext cx="1102179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CBD2D9"/>
            </a:solidFill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29AAE1DB-B910-4F1D-AA69-4EF308F4A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5921" y="4667250"/>
            <a:ext cx="1102179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CBD2D9"/>
            </a:solidFill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CEC8A0D1-CF8F-408A-97DC-57F06E57F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9943" y="4810125"/>
            <a:ext cx="949779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84C6"/>
          </a:solidFill>
          <a:ln xmlns:a="http://schemas.openxmlformats.org/drawingml/2006/main" w="0">
            <a:noFill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CCE8F72-FC4C-445D-ADF1-10D626106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24450"/>
            <a:ext cx="2895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182738"/>
                </a:solidFill>
                <a:latin typeface="Hiragino Sans GB"/>
                <a:ea typeface="Hiragino Sans GB"/>
                <a:cs typeface="Hiragino Sans GB"/>
              </a:rPr>
              <a:t>论文写作与答辩准备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88190F35-574F-4E9C-88BF-89BE563E1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095875"/>
            <a:ext cx="1102179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CBD2D9"/>
            </a:solidFill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ECCAA4AC-8307-4154-A6F9-49E2583FE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5029" y="5095875"/>
            <a:ext cx="1102179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CBD2D9"/>
            </a:solidFill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A4454008-1C05-4A78-89C0-1D79E1277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7207" y="5095875"/>
            <a:ext cx="1102179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CBD2D9"/>
            </a:solidFill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BB12D9F0-CEA3-4921-AE56-2F9B1D336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9386" y="5095875"/>
            <a:ext cx="1102179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CBD2D9"/>
            </a:solidFill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892B7767-4E49-451A-B810-164F2DB1D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1564" y="5095875"/>
            <a:ext cx="1102179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CBD2D9"/>
            </a:solidFill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1F362092-9601-4135-94E6-414275613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3743" y="5095875"/>
            <a:ext cx="1102179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CBD2D9"/>
            </a:solidFill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885B13A2-E8BD-4D4B-BFEB-952C21A2B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5921" y="5095875"/>
            <a:ext cx="1102179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3">
            <a:solidFill>
              <a:srgbClr val="CBD2D9"/>
            </a:solidFill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59D983EB-9CEE-4F67-A6E2-14C7D5337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9943" y="5238750"/>
            <a:ext cx="2051957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84C6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54596731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90151D-0616-4D86-A7C1-4A42F21C8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352425"/>
            <a:ext cx="7429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15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4FA908-B9F9-42B3-B803-29892FB6A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600075"/>
            <a:ext cx="4857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15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477DF8-967A-44A0-82F6-4C77DA6D1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552575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C315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C315E"/>
                </a:solidFill>
                <a:latin typeface="Hiragino Sans GB"/>
                <a:ea typeface="Hiragino Sans GB"/>
                <a:cs typeface="Hiragino Sans GB"/>
              </a:rPr>
              <a:t>硕士学位论文开题答辩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01BEF9-CB14-4763-8BAE-4F23FDDB8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66975"/>
            <a:ext cx="3524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C315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350" b="1">
                <a:solidFill>
                  <a:srgbClr val="1C315E"/>
                </a:solidFill>
                <a:latin typeface="Hiragino Sans GB"/>
                <a:ea typeface="Hiragino Sans GB"/>
                <a:cs typeface="Hiragino Sans GB"/>
              </a:rPr>
              <a:t>感谢聆听！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99D377-5C95-45EF-A488-E06AF0276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295650"/>
            <a:ext cx="8801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15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B84943-16E9-428D-BE0F-B2DF9EEE3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3514725"/>
            <a:ext cx="571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C315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1C315E"/>
                </a:solidFill>
                <a:latin typeface="Hiragino Sans GB"/>
                <a:ea typeface="Hiragino Sans GB"/>
                <a:cs typeface="Hiragino Sans GB"/>
              </a:rPr>
              <a:t>华中科技大学  |  设计学院  |  设计学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BADE11-279F-42CE-AF72-61E024B3B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91100"/>
            <a:ext cx="121920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15E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65C205-A9C5-47F9-9C9B-630C1C7A4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743575"/>
            <a:ext cx="2333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答辩人：陈思静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2F25FC-CF0F-4AEC-9489-9DF09C2E7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743575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学号：M20270493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097BD7-0B31-4332-8E0C-628A7983D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743575"/>
            <a:ext cx="1952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导师：何心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9D8BAF-43FB-4126-8886-D5637E03C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743575"/>
            <a:ext cx="304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日期：2026/09/24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36c7954be343aa"/>
          <a:stretch xmlns:a="http://schemas.openxmlformats.org/drawingml/2006/main"/>
        </p:blipFill>
        <p:spPr>
          <a:xfrm xmlns:a="http://schemas.openxmlformats.org/drawingml/2006/main">
            <a:off x="9620250" y="209550"/>
            <a:ext cx="2228850" cy="6286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146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2026-09-23T12:11:10.0180000Z</dcterms:created>
  <dcterms:modified xsi:type="dcterms:W3CDTF">2026-09-23T12:11:10.0180000Z</dcterms:modified>
</coreProperties>
</file>